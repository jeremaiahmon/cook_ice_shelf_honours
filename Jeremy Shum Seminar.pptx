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  <p:sldMasterId id="2147483686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59ea987b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g3859ea987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20dd9370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820dd9370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7b5b29228_0_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87b5b29228_0_6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7b5b29228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7b5b29228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7b5b29228_0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87b5b29228_0_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859ea987ba_0_7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859ea987ba_0_7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59ea987ba_0_8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59ea987ba_0_8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7b5b29228_0_7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87b5b29228_0_7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7c57c0672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7c57c0672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48a57048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848a57048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859ea987ba_0_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859ea987ba_0_7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7b5b29228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87b5b29228_0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859ea987ba_0_6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5" name="Google Shape;375;g3859ea987ba_0_6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ctrTitle"/>
          </p:nvPr>
        </p:nvSpPr>
        <p:spPr>
          <a:xfrm>
            <a:off x="1147500" y="1026000"/>
            <a:ext cx="6858000" cy="18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 sz="3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1147500" y="2943000"/>
            <a:ext cx="6858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2"/>
          </p:nvPr>
        </p:nvSpPr>
        <p:spPr>
          <a:xfrm>
            <a:off x="4590000" y="4662900"/>
            <a:ext cx="3375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857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—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&gt;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55" name="Google Shape;55;p13" descr="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990" y="4520371"/>
            <a:ext cx="2792355" cy="411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rait photo with text (large font)">
  <p:cSld name="Portrait photo with text (large font)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4590000" y="243000"/>
            <a:ext cx="4023000" cy="4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&gt;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4"/>
          <p:cNvSpPr>
            <a:spLocks noGrp="1"/>
          </p:cNvSpPr>
          <p:nvPr>
            <p:ph type="pic" idx="2"/>
          </p:nvPr>
        </p:nvSpPr>
        <p:spPr>
          <a:xfrm>
            <a:off x="297000" y="1007100"/>
            <a:ext cx="2335500" cy="34209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0" name="Google Shape;60;p14"/>
          <p:cNvSpPr txBox="1">
            <a:spLocks noGrp="1"/>
          </p:cNvSpPr>
          <p:nvPr>
            <p:ph type="body" idx="3"/>
          </p:nvPr>
        </p:nvSpPr>
        <p:spPr>
          <a:xfrm>
            <a:off x="270000" y="4427935"/>
            <a:ext cx="2335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4"/>
          </p:nvPr>
        </p:nvSpPr>
        <p:spPr>
          <a:xfrm>
            <a:off x="270000" y="4320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ndscape photo &amp; text">
  <p:cSld name="Landscape photo &amp; 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4590000" y="243000"/>
            <a:ext cx="4023000" cy="4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—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&gt;"/>
              <a:defRPr sz="9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>
            <a:spLocks noGrp="1"/>
          </p:cNvSpPr>
          <p:nvPr>
            <p:ph type="pic" idx="2"/>
          </p:nvPr>
        </p:nvSpPr>
        <p:spPr>
          <a:xfrm>
            <a:off x="297000" y="2095200"/>
            <a:ext cx="3507300" cy="2335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7" name="Google Shape;67;p15"/>
          <p:cNvSpPr txBox="1">
            <a:spLocks noGrp="1"/>
          </p:cNvSpPr>
          <p:nvPr>
            <p:ph type="body" idx="3"/>
          </p:nvPr>
        </p:nvSpPr>
        <p:spPr>
          <a:xfrm>
            <a:off x="270000" y="4427935"/>
            <a:ext cx="2335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4"/>
          </p:nvPr>
        </p:nvSpPr>
        <p:spPr>
          <a:xfrm>
            <a:off x="270000" y="4320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4590000" y="243000"/>
            <a:ext cx="4023000" cy="4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&gt;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ctrTitle"/>
          </p:nvPr>
        </p:nvSpPr>
        <p:spPr>
          <a:xfrm>
            <a:off x="1147500" y="1026000"/>
            <a:ext cx="6858000" cy="18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 sz="3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1147500" y="2943000"/>
            <a:ext cx="6858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4590000" y="4662900"/>
            <a:ext cx="3375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857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—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&gt;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85" name="Google Shape;85;p18" descr="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990" y="4520371"/>
            <a:ext cx="2792355" cy="411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Blue">
  <p:cSld name="Title Slide Blue">
    <p:bg>
      <p:bgPr>
        <a:solidFill>
          <a:schemeClr val="accen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ctrTitle"/>
          </p:nvPr>
        </p:nvSpPr>
        <p:spPr>
          <a:xfrm>
            <a:off x="1147500" y="1026000"/>
            <a:ext cx="6858000" cy="18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 sz="3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ubTitle" idx="1"/>
          </p:nvPr>
        </p:nvSpPr>
        <p:spPr>
          <a:xfrm>
            <a:off x="1147500" y="2943000"/>
            <a:ext cx="6858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89" name="Google Shape;89;p19" descr="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990" y="4520371"/>
            <a:ext cx="2792355" cy="41148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9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2"/>
          </p:nvPr>
        </p:nvSpPr>
        <p:spPr>
          <a:xfrm>
            <a:off x="4590000" y="4662900"/>
            <a:ext cx="3375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857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—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&gt;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cxnSp>
        <p:nvCxnSpPr>
          <p:cNvPr id="92" name="Google Shape;92;p19"/>
          <p:cNvCxnSpPr/>
          <p:nvPr/>
        </p:nvCxnSpPr>
        <p:spPr>
          <a:xfrm>
            <a:off x="3147461" y="4982141"/>
            <a:ext cx="5721900" cy="0"/>
          </a:xfrm>
          <a:prstGeom prst="straightConnector1">
            <a:avLst/>
          </a:prstGeom>
          <a:noFill/>
          <a:ln w="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Rust">
  <p:cSld name="Title Slide Rust">
    <p:bg>
      <p:bgPr>
        <a:solidFill>
          <a:schemeClr val="accent2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ctrTitle"/>
          </p:nvPr>
        </p:nvSpPr>
        <p:spPr>
          <a:xfrm>
            <a:off x="1147500" y="1026000"/>
            <a:ext cx="6858000" cy="18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 sz="3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subTitle" idx="1"/>
          </p:nvPr>
        </p:nvSpPr>
        <p:spPr>
          <a:xfrm>
            <a:off x="1147500" y="2943000"/>
            <a:ext cx="6858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2"/>
          </p:nvPr>
        </p:nvSpPr>
        <p:spPr>
          <a:xfrm>
            <a:off x="4590000" y="4662900"/>
            <a:ext cx="3375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857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—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&gt;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" name="Google Shape;98;p20" descr="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990" y="4520371"/>
            <a:ext cx="2792355" cy="411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arge Statement Orange">
  <p:cSld name="Large Statement Orange">
    <p:bg>
      <p:bgPr>
        <a:solidFill>
          <a:schemeClr val="accent3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756000" y="1377000"/>
            <a:ext cx="756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lvl="0" algn="ctr">
              <a:lnSpc>
                <a:spcPct val="11142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Font typeface="Arial"/>
              <a:buNone/>
              <a:defRPr sz="5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21"/>
          <p:cNvSpPr txBox="1"/>
          <p:nvPr/>
        </p:nvSpPr>
        <p:spPr>
          <a:xfrm>
            <a:off x="4550288" y="4793287"/>
            <a:ext cx="2700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Australian Research Council Special Research Initiative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1"/>
          <p:cNvSpPr txBox="1"/>
          <p:nvPr/>
        </p:nvSpPr>
        <p:spPr>
          <a:xfrm>
            <a:off x="229500" y="4792499"/>
            <a:ext cx="2700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SAEF: Securing Antarctica’s Environmental Future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Statement Yellow">
  <p:cSld name="Large Statement Yellow">
    <p:bg>
      <p:bgPr>
        <a:solidFill>
          <a:schemeClr val="accent4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>
            <a:spLocks noGrp="1"/>
          </p:cNvSpPr>
          <p:nvPr>
            <p:ph type="title"/>
          </p:nvPr>
        </p:nvSpPr>
        <p:spPr>
          <a:xfrm>
            <a:off x="756000" y="1377000"/>
            <a:ext cx="756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lvl="0" algn="ctr">
              <a:lnSpc>
                <a:spcPct val="11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2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rge Statement Green">
  <p:cSld name="Large Statement Green">
    <p:bg>
      <p:bgPr>
        <a:solidFill>
          <a:schemeClr val="accent5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>
            <a:spLocks noGrp="1"/>
          </p:cNvSpPr>
          <p:nvPr>
            <p:ph type="title"/>
          </p:nvPr>
        </p:nvSpPr>
        <p:spPr>
          <a:xfrm>
            <a:off x="756000" y="1377000"/>
            <a:ext cx="7560000" cy="2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lvl="0" algn="ctr">
              <a:lnSpc>
                <a:spcPct val="11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Stateme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>
            <a:spLocks noGrp="1"/>
          </p:cNvSpPr>
          <p:nvPr>
            <p:ph type="body" idx="1"/>
          </p:nvPr>
        </p:nvSpPr>
        <p:spPr>
          <a:xfrm>
            <a:off x="796500" y="1350000"/>
            <a:ext cx="7560000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38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>
              <a:lnSpc>
                <a:spcPct val="112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3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3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46990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—"/>
              <a:defRPr sz="3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46990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&gt;"/>
              <a:defRPr sz="3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Page Image Dark Text">
  <p:cSld name="Full Page Image Dark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5"/>
          <p:cNvSpPr txBox="1"/>
          <p:nvPr/>
        </p:nvSpPr>
        <p:spPr>
          <a:xfrm>
            <a:off x="4549500" y="4792500"/>
            <a:ext cx="2700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Australian Research Council Special Research Initiative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5"/>
          <p:cNvSpPr txBox="1"/>
          <p:nvPr/>
        </p:nvSpPr>
        <p:spPr>
          <a:xfrm>
            <a:off x="229500" y="4792500"/>
            <a:ext cx="2700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SAEF: Securing Antarctica’s Environmental Future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5"/>
          <p:cNvSpPr txBox="1">
            <a:spLocks noGrp="1"/>
          </p:cNvSpPr>
          <p:nvPr>
            <p:ph type="subTitle" idx="1"/>
          </p:nvPr>
        </p:nvSpPr>
        <p:spPr>
          <a:xfrm>
            <a:off x="270000" y="4320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body" idx="2"/>
          </p:nvPr>
        </p:nvSpPr>
        <p:spPr>
          <a:xfrm>
            <a:off x="270000" y="4657500"/>
            <a:ext cx="2335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ull Page Image White Text">
  <p:cSld name="Full Page Image White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6"/>
          <p:cNvSpPr txBox="1"/>
          <p:nvPr/>
        </p:nvSpPr>
        <p:spPr>
          <a:xfrm>
            <a:off x="4549500" y="4792500"/>
            <a:ext cx="2700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Australian Research Council Special Research Initiative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6"/>
          <p:cNvSpPr txBox="1"/>
          <p:nvPr/>
        </p:nvSpPr>
        <p:spPr>
          <a:xfrm>
            <a:off x="229500" y="4792500"/>
            <a:ext cx="2700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SAEF: Securing Antarctica’s Environmental Future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6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ubTitle" idx="1"/>
          </p:nvPr>
        </p:nvSpPr>
        <p:spPr>
          <a:xfrm>
            <a:off x="270000" y="4320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body" idx="2"/>
          </p:nvPr>
        </p:nvSpPr>
        <p:spPr>
          <a:xfrm>
            <a:off x="270000" y="4657500"/>
            <a:ext cx="2335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rait photo with text (large font)">
  <p:cSld name="Portrait photo with text (large font)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>
            <a:spLocks noGrp="1"/>
          </p:cNvSpPr>
          <p:nvPr>
            <p:ph type="body" idx="1"/>
          </p:nvPr>
        </p:nvSpPr>
        <p:spPr>
          <a:xfrm>
            <a:off x="4590000" y="243000"/>
            <a:ext cx="4023000" cy="4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&gt;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7"/>
          <p:cNvSpPr>
            <a:spLocks noGrp="1"/>
          </p:cNvSpPr>
          <p:nvPr>
            <p:ph type="pic" idx="2"/>
          </p:nvPr>
        </p:nvSpPr>
        <p:spPr>
          <a:xfrm>
            <a:off x="297000" y="1007100"/>
            <a:ext cx="2335500" cy="34209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1" name="Google Shape;131;p27"/>
          <p:cNvSpPr txBox="1">
            <a:spLocks noGrp="1"/>
          </p:cNvSpPr>
          <p:nvPr>
            <p:ph type="body" idx="3"/>
          </p:nvPr>
        </p:nvSpPr>
        <p:spPr>
          <a:xfrm>
            <a:off x="270000" y="4427935"/>
            <a:ext cx="2335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subTitle" idx="4"/>
          </p:nvPr>
        </p:nvSpPr>
        <p:spPr>
          <a:xfrm>
            <a:off x="270000" y="4320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ndscape photo &amp; text">
  <p:cSld name="Landscape photo &amp; 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>
            <a:spLocks noGrp="1"/>
          </p:cNvSpPr>
          <p:nvPr>
            <p:ph type="body" idx="1"/>
          </p:nvPr>
        </p:nvSpPr>
        <p:spPr>
          <a:xfrm>
            <a:off x="4590000" y="243000"/>
            <a:ext cx="4023000" cy="4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—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&gt;"/>
              <a:defRPr sz="9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8"/>
          <p:cNvSpPr>
            <a:spLocks noGrp="1"/>
          </p:cNvSpPr>
          <p:nvPr>
            <p:ph type="pic" idx="2"/>
          </p:nvPr>
        </p:nvSpPr>
        <p:spPr>
          <a:xfrm>
            <a:off x="297000" y="2095200"/>
            <a:ext cx="3507300" cy="2335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8" name="Google Shape;138;p28"/>
          <p:cNvSpPr txBox="1">
            <a:spLocks noGrp="1"/>
          </p:cNvSpPr>
          <p:nvPr>
            <p:ph type="body" idx="3"/>
          </p:nvPr>
        </p:nvSpPr>
        <p:spPr>
          <a:xfrm>
            <a:off x="270000" y="4427935"/>
            <a:ext cx="2335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28"/>
          <p:cNvSpPr txBox="1">
            <a:spLocks noGrp="1"/>
          </p:cNvSpPr>
          <p:nvPr>
            <p:ph type="subTitle" idx="4"/>
          </p:nvPr>
        </p:nvSpPr>
        <p:spPr>
          <a:xfrm>
            <a:off x="270000" y="4320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0" name="Google Shape;140;p28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Gallery">
  <p:cSld name="Photo Galler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9"/>
          <p:cNvSpPr>
            <a:spLocks noGrp="1"/>
          </p:cNvSpPr>
          <p:nvPr>
            <p:ph type="pic" idx="2"/>
          </p:nvPr>
        </p:nvSpPr>
        <p:spPr>
          <a:xfrm>
            <a:off x="297000" y="837000"/>
            <a:ext cx="2786400" cy="35667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4" name="Google Shape;144;p29"/>
          <p:cNvSpPr txBox="1">
            <a:spLocks noGrp="1"/>
          </p:cNvSpPr>
          <p:nvPr>
            <p:ph type="body" idx="1"/>
          </p:nvPr>
        </p:nvSpPr>
        <p:spPr>
          <a:xfrm>
            <a:off x="270000" y="4414500"/>
            <a:ext cx="2808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29"/>
          <p:cNvSpPr txBox="1">
            <a:spLocks noGrp="1"/>
          </p:cNvSpPr>
          <p:nvPr>
            <p:ph type="subTitle" idx="3"/>
          </p:nvPr>
        </p:nvSpPr>
        <p:spPr>
          <a:xfrm>
            <a:off x="270000" y="4320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6" name="Google Shape;146;p29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9"/>
          <p:cNvSpPr>
            <a:spLocks noGrp="1"/>
          </p:cNvSpPr>
          <p:nvPr>
            <p:ph type="pic" idx="4"/>
          </p:nvPr>
        </p:nvSpPr>
        <p:spPr>
          <a:xfrm>
            <a:off x="3177900" y="842400"/>
            <a:ext cx="2781000" cy="1695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8" name="Google Shape;148;p29"/>
          <p:cNvSpPr>
            <a:spLocks noGrp="1"/>
          </p:cNvSpPr>
          <p:nvPr>
            <p:ph type="pic" idx="5"/>
          </p:nvPr>
        </p:nvSpPr>
        <p:spPr>
          <a:xfrm>
            <a:off x="3177900" y="2716200"/>
            <a:ext cx="2781000" cy="1695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9" name="Google Shape;149;p29"/>
          <p:cNvSpPr>
            <a:spLocks noGrp="1"/>
          </p:cNvSpPr>
          <p:nvPr>
            <p:ph type="pic" idx="6"/>
          </p:nvPr>
        </p:nvSpPr>
        <p:spPr>
          <a:xfrm>
            <a:off x="6058800" y="842400"/>
            <a:ext cx="1347300" cy="1695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0" name="Google Shape;150;p29"/>
          <p:cNvSpPr>
            <a:spLocks noGrp="1"/>
          </p:cNvSpPr>
          <p:nvPr>
            <p:ph type="pic" idx="7"/>
          </p:nvPr>
        </p:nvSpPr>
        <p:spPr>
          <a:xfrm>
            <a:off x="7499700" y="842400"/>
            <a:ext cx="1347300" cy="1695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1" name="Google Shape;151;p29"/>
          <p:cNvSpPr>
            <a:spLocks noGrp="1"/>
          </p:cNvSpPr>
          <p:nvPr>
            <p:ph type="pic" idx="8"/>
          </p:nvPr>
        </p:nvSpPr>
        <p:spPr>
          <a:xfrm>
            <a:off x="6058800" y="2716200"/>
            <a:ext cx="1347300" cy="1695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2" name="Google Shape;152;p29"/>
          <p:cNvSpPr>
            <a:spLocks noGrp="1"/>
          </p:cNvSpPr>
          <p:nvPr>
            <p:ph type="pic" idx="9"/>
          </p:nvPr>
        </p:nvSpPr>
        <p:spPr>
          <a:xfrm>
            <a:off x="7499700" y="2716200"/>
            <a:ext cx="1347300" cy="1695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3" name="Google Shape;153;p29"/>
          <p:cNvSpPr txBox="1">
            <a:spLocks noGrp="1"/>
          </p:cNvSpPr>
          <p:nvPr>
            <p:ph type="body" idx="13"/>
          </p:nvPr>
        </p:nvSpPr>
        <p:spPr>
          <a:xfrm>
            <a:off x="3145500" y="4414500"/>
            <a:ext cx="2808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body" idx="14"/>
          </p:nvPr>
        </p:nvSpPr>
        <p:spPr>
          <a:xfrm>
            <a:off x="3145500" y="2551500"/>
            <a:ext cx="2808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body" idx="15"/>
          </p:nvPr>
        </p:nvSpPr>
        <p:spPr>
          <a:xfrm>
            <a:off x="6021000" y="4414500"/>
            <a:ext cx="137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body" idx="16"/>
          </p:nvPr>
        </p:nvSpPr>
        <p:spPr>
          <a:xfrm>
            <a:off x="7479000" y="4414500"/>
            <a:ext cx="137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body" idx="17"/>
          </p:nvPr>
        </p:nvSpPr>
        <p:spPr>
          <a:xfrm>
            <a:off x="7479000" y="2551500"/>
            <a:ext cx="137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body" idx="18"/>
          </p:nvPr>
        </p:nvSpPr>
        <p:spPr>
          <a:xfrm>
            <a:off x="6021000" y="2551500"/>
            <a:ext cx="13770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Only">
  <p:cSld name="Title &amp; Subtitle 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subTitle" idx="1"/>
          </p:nvPr>
        </p:nvSpPr>
        <p:spPr>
          <a:xfrm>
            <a:off x="270000" y="4320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with caption">
  <p:cSld name="Table with caption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1"/>
          <p:cNvSpPr txBox="1">
            <a:spLocks noGrp="1"/>
          </p:cNvSpPr>
          <p:nvPr>
            <p:ph type="subTitle" idx="1"/>
          </p:nvPr>
        </p:nvSpPr>
        <p:spPr>
          <a:xfrm>
            <a:off x="270000" y="4320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6" name="Google Shape;166;p31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1"/>
          <p:cNvSpPr txBox="1">
            <a:spLocks noGrp="1"/>
          </p:cNvSpPr>
          <p:nvPr>
            <p:ph type="body" idx="2"/>
          </p:nvPr>
        </p:nvSpPr>
        <p:spPr>
          <a:xfrm>
            <a:off x="7479000" y="796500"/>
            <a:ext cx="1350000" cy="3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&gt;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 Blue">
  <p:cSld name="Closing Slide Blue">
    <p:bg>
      <p:bgPr>
        <a:solidFill>
          <a:schemeClr val="accen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>
            <a:spLocks noGrp="1"/>
          </p:cNvSpPr>
          <p:nvPr>
            <p:ph type="ctrTitle"/>
          </p:nvPr>
        </p:nvSpPr>
        <p:spPr>
          <a:xfrm>
            <a:off x="1120500" y="1512000"/>
            <a:ext cx="6858000" cy="18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 sz="3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2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32" descr="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990" y="4520371"/>
            <a:ext cx="2792355" cy="41148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2"/>
          <p:cNvSpPr txBox="1">
            <a:spLocks noGrp="1"/>
          </p:cNvSpPr>
          <p:nvPr>
            <p:ph type="body" idx="1"/>
          </p:nvPr>
        </p:nvSpPr>
        <p:spPr>
          <a:xfrm>
            <a:off x="4590000" y="4662900"/>
            <a:ext cx="3375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857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—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&gt;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 Rust">
  <p:cSld name="Closing Slide Rust">
    <p:bg>
      <p:bgPr>
        <a:solidFill>
          <a:schemeClr val="accent2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>
            <a:spLocks noGrp="1"/>
          </p:cNvSpPr>
          <p:nvPr>
            <p:ph type="ctrTitle"/>
          </p:nvPr>
        </p:nvSpPr>
        <p:spPr>
          <a:xfrm>
            <a:off x="1120500" y="1512000"/>
            <a:ext cx="6858000" cy="18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  <a:defRPr sz="3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3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6" name="Google Shape;176;p33" descr="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990" y="4520371"/>
            <a:ext cx="2792355" cy="41148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3"/>
          <p:cNvSpPr txBox="1">
            <a:spLocks noGrp="1"/>
          </p:cNvSpPr>
          <p:nvPr>
            <p:ph type="body" idx="1"/>
          </p:nvPr>
        </p:nvSpPr>
        <p:spPr>
          <a:xfrm>
            <a:off x="4590000" y="4662900"/>
            <a:ext cx="3375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857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—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&gt;"/>
              <a:defRPr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Slide Cream">
  <p:cSld name="Closing Slide Cream">
    <p:bg>
      <p:bgPr>
        <a:solidFill>
          <a:schemeClr val="dk2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>
            <a:spLocks noGrp="1"/>
          </p:cNvSpPr>
          <p:nvPr>
            <p:ph type="ctrTitle"/>
          </p:nvPr>
        </p:nvSpPr>
        <p:spPr>
          <a:xfrm>
            <a:off x="1120500" y="1512000"/>
            <a:ext cx="6858000" cy="18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4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1" name="Google Shape;181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9990" y="4520371"/>
            <a:ext cx="2792355" cy="41148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4"/>
          <p:cNvSpPr txBox="1">
            <a:spLocks noGrp="1"/>
          </p:cNvSpPr>
          <p:nvPr>
            <p:ph type="body" idx="1"/>
          </p:nvPr>
        </p:nvSpPr>
        <p:spPr>
          <a:xfrm>
            <a:off x="4590000" y="4662900"/>
            <a:ext cx="3375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857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—"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857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&gt;"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(Large Font)">
  <p:cSld name="Title and Content (Large Font)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5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35"/>
          <p:cNvSpPr txBox="1">
            <a:spLocks noGrp="1"/>
          </p:cNvSpPr>
          <p:nvPr>
            <p:ph type="body" idx="1"/>
          </p:nvPr>
        </p:nvSpPr>
        <p:spPr>
          <a:xfrm>
            <a:off x="4590000" y="243000"/>
            <a:ext cx="4023000" cy="4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&gt;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ndscape photo &amp; text (large font)">
  <p:cSld name="Landscape photo &amp; text (large font)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36"/>
          <p:cNvSpPr>
            <a:spLocks noGrp="1"/>
          </p:cNvSpPr>
          <p:nvPr>
            <p:ph type="pic" idx="2"/>
          </p:nvPr>
        </p:nvSpPr>
        <p:spPr>
          <a:xfrm>
            <a:off x="297000" y="2095200"/>
            <a:ext cx="3507300" cy="2335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0" name="Google Shape;190;p36"/>
          <p:cNvSpPr txBox="1">
            <a:spLocks noGrp="1"/>
          </p:cNvSpPr>
          <p:nvPr>
            <p:ph type="body" idx="1"/>
          </p:nvPr>
        </p:nvSpPr>
        <p:spPr>
          <a:xfrm>
            <a:off x="270000" y="4427935"/>
            <a:ext cx="2335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6"/>
          <p:cNvSpPr txBox="1">
            <a:spLocks noGrp="1"/>
          </p:cNvSpPr>
          <p:nvPr>
            <p:ph type="subTitle" idx="3"/>
          </p:nvPr>
        </p:nvSpPr>
        <p:spPr>
          <a:xfrm>
            <a:off x="270000" y="4320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92" name="Google Shape;192;p36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6"/>
          <p:cNvSpPr txBox="1">
            <a:spLocks noGrp="1"/>
          </p:cNvSpPr>
          <p:nvPr>
            <p:ph type="body" idx="4"/>
          </p:nvPr>
        </p:nvSpPr>
        <p:spPr>
          <a:xfrm>
            <a:off x="4590000" y="243000"/>
            <a:ext cx="4023000" cy="4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&gt;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rait photo with text">
  <p:cSld name="Portrait photo with tex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7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7"/>
          <p:cNvSpPr>
            <a:spLocks noGrp="1"/>
          </p:cNvSpPr>
          <p:nvPr>
            <p:ph type="pic" idx="2"/>
          </p:nvPr>
        </p:nvSpPr>
        <p:spPr>
          <a:xfrm>
            <a:off x="297000" y="1007100"/>
            <a:ext cx="2335500" cy="34209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7" name="Google Shape;197;p37"/>
          <p:cNvSpPr txBox="1">
            <a:spLocks noGrp="1"/>
          </p:cNvSpPr>
          <p:nvPr>
            <p:ph type="body" idx="1"/>
          </p:nvPr>
        </p:nvSpPr>
        <p:spPr>
          <a:xfrm>
            <a:off x="270000" y="4427935"/>
            <a:ext cx="2335500" cy="1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None/>
              <a:defRPr sz="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600"/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—"/>
              <a:defRPr sz="600"/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Char char="&gt;"/>
              <a:defRPr sz="600"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37"/>
          <p:cNvSpPr txBox="1">
            <a:spLocks noGrp="1"/>
          </p:cNvSpPr>
          <p:nvPr>
            <p:ph type="subTitle" idx="3"/>
          </p:nvPr>
        </p:nvSpPr>
        <p:spPr>
          <a:xfrm>
            <a:off x="270000" y="4320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99" name="Google Shape;199;p37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7"/>
          <p:cNvSpPr txBox="1">
            <a:spLocks noGrp="1"/>
          </p:cNvSpPr>
          <p:nvPr>
            <p:ph type="body" idx="4"/>
          </p:nvPr>
        </p:nvSpPr>
        <p:spPr>
          <a:xfrm>
            <a:off x="4590000" y="243000"/>
            <a:ext cx="4023000" cy="4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—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&gt;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8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>
            <a:lvl1pPr marR="0"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4590000" y="243000"/>
            <a:ext cx="4050000" cy="4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—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&gt;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>
            <a:lvl1pPr marL="0" marR="0" lvl="0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4550288" y="4793286"/>
            <a:ext cx="2700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Australian Research Council Special Research Initiative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29500" y="4792499"/>
            <a:ext cx="2700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SAEF: Securing Antarctica’s Environmental Future 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hyperlink" Target="mailto:Felicity.McCormack@monash.edu" TargetMode="External"/><Relationship Id="rId4" Type="http://schemas.openxmlformats.org/officeDocument/2006/relationships/hyperlink" Target="http://arcsaef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ap-dc.org/view/dataset/609489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arcsaef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Relationship Id="rId4" Type="http://schemas.openxmlformats.org/officeDocument/2006/relationships/hyperlink" Target="mailto:Felicity.McCormack@monash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>
            <a:spLocks noGrp="1"/>
          </p:cNvSpPr>
          <p:nvPr>
            <p:ph type="ctrTitle"/>
          </p:nvPr>
        </p:nvSpPr>
        <p:spPr>
          <a:xfrm>
            <a:off x="1143000" y="422275"/>
            <a:ext cx="6858000" cy="27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Arial"/>
              <a:buNone/>
            </a:pPr>
            <a:r>
              <a:rPr lang="en"/>
              <a:t>Melt, Crevassing, and Buttressing: A Framework for Assessing the Cook Ice Shelf’s Vulnerability </a:t>
            </a:r>
            <a:endParaRPr/>
          </a:p>
        </p:txBody>
      </p:sp>
      <p:sp>
        <p:nvSpPr>
          <p:cNvPr id="211" name="Google Shape;211;p40"/>
          <p:cNvSpPr txBox="1">
            <a:spLocks noGrp="1"/>
          </p:cNvSpPr>
          <p:nvPr>
            <p:ph type="subTitle" idx="1"/>
          </p:nvPr>
        </p:nvSpPr>
        <p:spPr>
          <a:xfrm>
            <a:off x="1143000" y="3185350"/>
            <a:ext cx="68580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</a:pPr>
            <a:r>
              <a:rPr lang="en" dirty="0"/>
              <a:t>Prepared by Jeremy Shum, 07.10.25</a:t>
            </a:r>
            <a:endParaRPr dirty="0"/>
          </a:p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</a:pPr>
            <a:r>
              <a:rPr lang="en" dirty="0"/>
              <a:t>Supervised by Felicity McCormack</a:t>
            </a:r>
            <a:endParaRPr dirty="0"/>
          </a:p>
        </p:txBody>
      </p:sp>
      <p:sp>
        <p:nvSpPr>
          <p:cNvPr id="212" name="Google Shape;212;p40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13" name="Google Shape;213;p40"/>
          <p:cNvSpPr txBox="1">
            <a:spLocks noGrp="1"/>
          </p:cNvSpPr>
          <p:nvPr>
            <p:ph type="body" idx="2"/>
          </p:nvPr>
        </p:nvSpPr>
        <p:spPr>
          <a:xfrm>
            <a:off x="3986350" y="4409350"/>
            <a:ext cx="46137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" sz="100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arcsaef.com</a:t>
            </a:r>
            <a:r>
              <a:rPr lang="en" sz="1000" dirty="0">
                <a:solidFill>
                  <a:schemeClr val="bg1"/>
                </a:solidFill>
              </a:rPr>
              <a:t> jshu0010@student.monash.edu  </a:t>
            </a:r>
            <a:r>
              <a:rPr lang="en" sz="1000" dirty="0">
                <a:solidFill>
                  <a:schemeClr val="bg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Felicity.McCormack@monash.edu</a:t>
            </a:r>
            <a:r>
              <a:rPr lang="en" sz="1000" dirty="0">
                <a:solidFill>
                  <a:schemeClr val="bg1"/>
                </a:solidFill>
              </a:rPr>
              <a:t>  </a:t>
            </a:r>
            <a:endParaRPr sz="1000" dirty="0">
              <a:solidFill>
                <a:schemeClr val="bg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" sz="1000" dirty="0">
                <a:solidFill>
                  <a:schemeClr val="bg1"/>
                </a:solidFill>
              </a:rPr>
              <a:t>SAEF, Monash University, Melbourne Victoria Australia</a:t>
            </a:r>
            <a:endParaRPr sz="1000" dirty="0">
              <a:solidFill>
                <a:schemeClr val="bg1"/>
              </a:solidFill>
            </a:endParaRPr>
          </a:p>
        </p:txBody>
      </p:sp>
      <p:pic>
        <p:nvPicPr>
          <p:cNvPr id="214" name="Google Shape;214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498" y="4646313"/>
            <a:ext cx="482675" cy="48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1" title="presentation slide.png"/>
          <p:cNvPicPr preferRelativeResize="0"/>
          <p:nvPr/>
        </p:nvPicPr>
        <p:blipFill rotWithShape="1">
          <a:blip r:embed="rId3">
            <a:alphaModFix/>
          </a:blip>
          <a:srcRect t="20733" b="8092"/>
          <a:stretch/>
        </p:blipFill>
        <p:spPr>
          <a:xfrm>
            <a:off x="0" y="1482027"/>
            <a:ext cx="9144003" cy="366092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1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21" name="Google Shape;221;p41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7262100" cy="270000"/>
          </a:xfrm>
          <a:prstGeom prst="rect">
            <a:avLst/>
          </a:prstGeom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Shelves Critical for Ice Sheet Stability</a:t>
            </a:r>
            <a:endParaRPr/>
          </a:p>
        </p:txBody>
      </p:sp>
      <p:sp>
        <p:nvSpPr>
          <p:cNvPr id="222" name="Google Shape;222;p41"/>
          <p:cNvSpPr txBox="1">
            <a:spLocks noGrp="1"/>
          </p:cNvSpPr>
          <p:nvPr>
            <p:ph type="subTitle" idx="4"/>
          </p:nvPr>
        </p:nvSpPr>
        <p:spPr>
          <a:xfrm>
            <a:off x="3306600" y="4793150"/>
            <a:ext cx="2530800" cy="270000"/>
          </a:xfrm>
          <a:prstGeom prst="rect">
            <a:avLst/>
          </a:prstGeom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Figure 1: Characteristics of an ice shelf (Reese 2019)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3" name="Google Shape;22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23123"/>
            <a:ext cx="405850" cy="40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1"/>
          <p:cNvSpPr txBox="1"/>
          <p:nvPr/>
        </p:nvSpPr>
        <p:spPr>
          <a:xfrm>
            <a:off x="177475" y="579725"/>
            <a:ext cx="8966400" cy="9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Understanding vulnerability of ice shelves is key to predicting Antarctica’s response to climate change, including the timing of rapid retreat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2" title="Figure_1.png"/>
          <p:cNvPicPr preferRelativeResize="0"/>
          <p:nvPr/>
        </p:nvPicPr>
        <p:blipFill rotWithShape="1">
          <a:blip r:embed="rId3">
            <a:alphaModFix/>
          </a:blip>
          <a:srcRect t="50465" r="49768"/>
          <a:stretch/>
        </p:blipFill>
        <p:spPr>
          <a:xfrm>
            <a:off x="-5" y="750325"/>
            <a:ext cx="5145056" cy="4408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42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Aims</a:t>
            </a:r>
            <a:endParaRPr/>
          </a:p>
        </p:txBody>
      </p:sp>
      <p:sp>
        <p:nvSpPr>
          <p:cNvPr id="231" name="Google Shape;231;p42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232" name="Google Shape;232;p42"/>
          <p:cNvGrpSpPr/>
          <p:nvPr/>
        </p:nvGrpSpPr>
        <p:grpSpPr>
          <a:xfrm>
            <a:off x="3722777" y="2420592"/>
            <a:ext cx="1669083" cy="1101684"/>
            <a:chOff x="777425" y="811000"/>
            <a:chExt cx="1669083" cy="1101684"/>
          </a:xfrm>
        </p:grpSpPr>
        <p:pic>
          <p:nvPicPr>
            <p:cNvPr id="233" name="Google Shape;233;p42" title="Figure_1.png"/>
            <p:cNvPicPr preferRelativeResize="0"/>
            <p:nvPr/>
          </p:nvPicPr>
          <p:blipFill rotWithShape="1">
            <a:blip r:embed="rId3">
              <a:alphaModFix/>
            </a:blip>
            <a:srcRect l="16619" t="5105" r="55630" b="67922"/>
            <a:stretch/>
          </p:blipFill>
          <p:spPr>
            <a:xfrm>
              <a:off x="777425" y="811000"/>
              <a:ext cx="1304499" cy="11016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4" name="Google Shape;234;p42"/>
            <p:cNvSpPr txBox="1"/>
            <p:nvPr/>
          </p:nvSpPr>
          <p:spPr>
            <a:xfrm>
              <a:off x="843008" y="1326372"/>
              <a:ext cx="1603500" cy="32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0950" tIns="120950" rIns="120950" bIns="120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19" b="1">
                  <a:solidFill>
                    <a:srgbClr val="EE0000"/>
                  </a:solidFill>
                </a:rPr>
                <a:t>WSB</a:t>
              </a:r>
              <a:endParaRPr sz="1719" b="1">
                <a:solidFill>
                  <a:srgbClr val="EE0000"/>
                </a:solidFill>
              </a:endParaRPr>
            </a:p>
          </p:txBody>
        </p:sp>
      </p:grpSp>
      <p:sp>
        <p:nvSpPr>
          <p:cNvPr id="235" name="Google Shape;235;p42"/>
          <p:cNvSpPr txBox="1"/>
          <p:nvPr/>
        </p:nvSpPr>
        <p:spPr>
          <a:xfrm>
            <a:off x="2168835" y="1399096"/>
            <a:ext cx="16035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950" tIns="120950" rIns="120950" bIns="12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16" b="1">
                <a:solidFill>
                  <a:srgbClr val="0000FF"/>
                </a:solidFill>
              </a:rPr>
              <a:t>CIS</a:t>
            </a:r>
            <a:endParaRPr sz="2116" b="1">
              <a:solidFill>
                <a:srgbClr val="0000FF"/>
              </a:solidFill>
            </a:endParaRPr>
          </a:p>
        </p:txBody>
      </p:sp>
      <p:pic>
        <p:nvPicPr>
          <p:cNvPr id="236" name="Google Shape;23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661323" y="-12"/>
            <a:ext cx="482675" cy="4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2"/>
          <p:cNvSpPr txBox="1"/>
          <p:nvPr/>
        </p:nvSpPr>
        <p:spPr>
          <a:xfrm>
            <a:off x="5069525" y="926725"/>
            <a:ext cx="3914100" cy="40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7F7F7F"/>
                </a:solidFill>
              </a:rPr>
              <a:t>What is the vulnerability of the Cook Ice Shelf (CIS) to climate change? </a:t>
            </a:r>
            <a:endParaRPr sz="1600">
              <a:solidFill>
                <a:srgbClr val="7F7F7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rgbClr val="7F7F7F"/>
              </a:solidFill>
            </a:endParaRPr>
          </a:p>
          <a:p>
            <a:pPr marL="457200" lvl="0" indent="-330200" algn="ctr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AutoNum type="arabicPeriod"/>
            </a:pPr>
            <a:r>
              <a:rPr lang="en" sz="1600">
                <a:solidFill>
                  <a:srgbClr val="7F7F7F"/>
                </a:solidFill>
              </a:rPr>
              <a:t>How is the ocean melting the ice shelf?</a:t>
            </a:r>
            <a:endParaRPr sz="1600">
              <a:solidFill>
                <a:srgbClr val="7F7F7F"/>
              </a:solidFill>
            </a:endParaRPr>
          </a:p>
          <a:p>
            <a:pPr marL="457200" lvl="0" indent="-330200" algn="ctr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AutoNum type="arabicPeriod"/>
            </a:pPr>
            <a:r>
              <a:rPr lang="en" sz="1600">
                <a:solidFill>
                  <a:srgbClr val="7F7F7F"/>
                </a:solidFill>
              </a:rPr>
              <a:t>Which regions are vulnerable to crevassing?</a:t>
            </a:r>
            <a:endParaRPr sz="1600">
              <a:solidFill>
                <a:srgbClr val="7F7F7F"/>
              </a:solidFill>
            </a:endParaRPr>
          </a:p>
          <a:p>
            <a:pPr marL="457200" lvl="0" indent="-330200" algn="ctr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AutoNum type="arabicPeriod"/>
            </a:pPr>
            <a:r>
              <a:rPr lang="en" sz="1600">
                <a:solidFill>
                  <a:srgbClr val="7F7F7F"/>
                </a:solidFill>
              </a:rPr>
              <a:t>What is the buttressing capacity of the CIS?</a:t>
            </a:r>
            <a:endParaRPr sz="1600">
              <a:solidFill>
                <a:srgbClr val="7F7F7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7F7F7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7F7F7F"/>
                </a:solidFill>
              </a:rPr>
              <a:t> →  Develop decision-making framework for monitoring (e.g. ApRES for ocean-driven melt)</a:t>
            </a:r>
            <a:endParaRPr sz="1600">
              <a:solidFill>
                <a:srgbClr val="7F7F7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238" name="Google Shape;238;p42"/>
          <p:cNvSpPr txBox="1"/>
          <p:nvPr/>
        </p:nvSpPr>
        <p:spPr>
          <a:xfrm>
            <a:off x="1263400" y="1007000"/>
            <a:ext cx="4827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highlight>
                  <a:srgbClr val="D9D9D9"/>
                </a:highlight>
              </a:rPr>
              <a:t>ss</a:t>
            </a:r>
            <a:endParaRPr sz="1800">
              <a:solidFill>
                <a:srgbClr val="D9D9D9"/>
              </a:solidFill>
              <a:highlight>
                <a:srgbClr val="D9D9D9"/>
              </a:highlight>
            </a:endParaRPr>
          </a:p>
        </p:txBody>
      </p:sp>
      <p:sp>
        <p:nvSpPr>
          <p:cNvPr id="239" name="Google Shape;239;p42"/>
          <p:cNvSpPr txBox="1"/>
          <p:nvPr/>
        </p:nvSpPr>
        <p:spPr>
          <a:xfrm>
            <a:off x="1263404" y="2661700"/>
            <a:ext cx="10236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950" tIns="120950" rIns="120950" bIns="12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16" b="1">
                <a:solidFill>
                  <a:schemeClr val="dk1"/>
                </a:solidFill>
              </a:rPr>
              <a:t>EAST</a:t>
            </a:r>
            <a:endParaRPr sz="1516" b="1">
              <a:solidFill>
                <a:schemeClr val="dk1"/>
              </a:solidFill>
            </a:endParaRPr>
          </a:p>
        </p:txBody>
      </p:sp>
      <p:sp>
        <p:nvSpPr>
          <p:cNvPr id="240" name="Google Shape;240;p42"/>
          <p:cNvSpPr txBox="1"/>
          <p:nvPr/>
        </p:nvSpPr>
        <p:spPr>
          <a:xfrm>
            <a:off x="4121454" y="1088150"/>
            <a:ext cx="10236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950" tIns="120950" rIns="120950" bIns="120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16" b="1">
                <a:solidFill>
                  <a:schemeClr val="dk1"/>
                </a:solidFill>
              </a:rPr>
              <a:t>WEST</a:t>
            </a:r>
            <a:endParaRPr sz="1516" b="1">
              <a:solidFill>
                <a:schemeClr val="dk1"/>
              </a:solidFill>
            </a:endParaRPr>
          </a:p>
        </p:txBody>
      </p:sp>
      <p:pic>
        <p:nvPicPr>
          <p:cNvPr id="241" name="Google Shape;24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" y="4660625"/>
            <a:ext cx="482675" cy="4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2"/>
          <p:cNvSpPr txBox="1">
            <a:spLocks noGrp="1"/>
          </p:cNvSpPr>
          <p:nvPr>
            <p:ph type="subTitle" idx="4"/>
          </p:nvPr>
        </p:nvSpPr>
        <p:spPr>
          <a:xfrm>
            <a:off x="4745025" y="4698713"/>
            <a:ext cx="3015000" cy="4065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/>
              <a:t>Figure 2: Antarctica Map and location of the Cook Ice Shelf</a:t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4050000" cy="270000"/>
          </a:xfrm>
          <a:prstGeom prst="rect">
            <a:avLst/>
          </a:prstGeom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249" name="Google Shape;249;p43"/>
          <p:cNvSpPr/>
          <p:nvPr/>
        </p:nvSpPr>
        <p:spPr>
          <a:xfrm>
            <a:off x="3686850" y="229500"/>
            <a:ext cx="1770300" cy="61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AIM: Vulnerability to Ocean-Driven Melt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250" name="Google Shape;250;p43"/>
          <p:cNvSpPr/>
          <p:nvPr/>
        </p:nvSpPr>
        <p:spPr>
          <a:xfrm>
            <a:off x="110600" y="1371700"/>
            <a:ext cx="1538100" cy="10347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WAOM: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BMR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Temperature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Salinity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(Richter et al., 2022)</a:t>
            </a:r>
            <a:endParaRPr sz="9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1" name="Google Shape;251;p43"/>
          <p:cNvCxnSpPr>
            <a:stCxn id="249" idx="2"/>
            <a:endCxn id="252" idx="0"/>
          </p:cNvCxnSpPr>
          <p:nvPr/>
        </p:nvCxnSpPr>
        <p:spPr>
          <a:xfrm rot="5400000">
            <a:off x="3175500" y="151500"/>
            <a:ext cx="699600" cy="20934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3" name="Google Shape;253;p43"/>
          <p:cNvCxnSpPr>
            <a:stCxn id="250" idx="0"/>
            <a:endCxn id="249" idx="2"/>
          </p:cNvCxnSpPr>
          <p:nvPr/>
        </p:nvCxnSpPr>
        <p:spPr>
          <a:xfrm rot="-5400000">
            <a:off x="2464250" y="-736100"/>
            <a:ext cx="523200" cy="3692400"/>
          </a:xfrm>
          <a:prstGeom prst="bentConnector3">
            <a:avLst>
              <a:gd name="adj1" fmla="val 32382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4" name="Google Shape;254;p43"/>
          <p:cNvCxnSpPr>
            <a:stCxn id="249" idx="2"/>
            <a:endCxn id="255" idx="0"/>
          </p:cNvCxnSpPr>
          <p:nvPr/>
        </p:nvCxnSpPr>
        <p:spPr>
          <a:xfrm rot="5400000">
            <a:off x="3892500" y="896100"/>
            <a:ext cx="727200" cy="631800"/>
          </a:xfrm>
          <a:prstGeom prst="bentConnector3">
            <a:avLst>
              <a:gd name="adj1" fmla="val 50009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6" name="Google Shape;256;p43"/>
          <p:cNvCxnSpPr>
            <a:stCxn id="249" idx="2"/>
            <a:endCxn id="257" idx="0"/>
          </p:cNvCxnSpPr>
          <p:nvPr/>
        </p:nvCxnSpPr>
        <p:spPr>
          <a:xfrm rot="-5400000" flipH="1">
            <a:off x="4643700" y="776700"/>
            <a:ext cx="727200" cy="870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2" name="Google Shape;252;p43"/>
          <p:cNvSpPr/>
          <p:nvPr/>
        </p:nvSpPr>
        <p:spPr>
          <a:xfrm>
            <a:off x="1846775" y="1547963"/>
            <a:ext cx="1263600" cy="728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Satellite Imagery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(Bindschadler et al., 2008)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43"/>
          <p:cNvSpPr/>
          <p:nvPr/>
        </p:nvSpPr>
        <p:spPr>
          <a:xfrm>
            <a:off x="3308450" y="1575725"/>
            <a:ext cx="1263600" cy="672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Annual Velocity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(Mouginot et al., 2017)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3"/>
          <p:cNvSpPr/>
          <p:nvPr/>
        </p:nvSpPr>
        <p:spPr>
          <a:xfrm>
            <a:off x="4810938" y="1575588"/>
            <a:ext cx="1263600" cy="672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Ice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Thickness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(Paolo et al., 2024)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43"/>
          <p:cNvSpPr/>
          <p:nvPr/>
        </p:nvSpPr>
        <p:spPr>
          <a:xfrm>
            <a:off x="6313450" y="1552750"/>
            <a:ext cx="1263600" cy="672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Ice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Extent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(Greene et al., 2024)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43"/>
          <p:cNvSpPr/>
          <p:nvPr/>
        </p:nvSpPr>
        <p:spPr>
          <a:xfrm>
            <a:off x="7778125" y="1552750"/>
            <a:ext cx="1263600" cy="6726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Surface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Elevation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(Morlighem et al., 2020)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0" name="Google Shape;260;p43"/>
          <p:cNvCxnSpPr>
            <a:stCxn id="249" idx="2"/>
            <a:endCxn id="258" idx="0"/>
          </p:cNvCxnSpPr>
          <p:nvPr/>
        </p:nvCxnSpPr>
        <p:spPr>
          <a:xfrm rot="-5400000" flipH="1">
            <a:off x="5406450" y="13950"/>
            <a:ext cx="704400" cy="23733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1" name="Google Shape;261;p43"/>
          <p:cNvCxnSpPr>
            <a:stCxn id="249" idx="2"/>
            <a:endCxn id="259" idx="0"/>
          </p:cNvCxnSpPr>
          <p:nvPr/>
        </p:nvCxnSpPr>
        <p:spPr>
          <a:xfrm rot="-5400000" flipH="1">
            <a:off x="6138750" y="-718350"/>
            <a:ext cx="704400" cy="38379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2" name="Google Shape;262;p43"/>
          <p:cNvSpPr/>
          <p:nvPr/>
        </p:nvSpPr>
        <p:spPr>
          <a:xfrm>
            <a:off x="468300" y="3098949"/>
            <a:ext cx="1538100" cy="728100"/>
          </a:xfrm>
          <a:prstGeom prst="roundRect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Melt:</a:t>
            </a:r>
            <a:endParaRPr sz="1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Water Parcel Classification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43"/>
          <p:cNvSpPr/>
          <p:nvPr/>
        </p:nvSpPr>
        <p:spPr>
          <a:xfrm>
            <a:off x="2652675" y="3050649"/>
            <a:ext cx="1538100" cy="824700"/>
          </a:xfrm>
          <a:prstGeom prst="roundRect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Crevassing: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Probability / Vulnerability to Formation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43"/>
          <p:cNvSpPr/>
          <p:nvPr/>
        </p:nvSpPr>
        <p:spPr>
          <a:xfrm>
            <a:off x="4898275" y="3050650"/>
            <a:ext cx="1843200" cy="824700"/>
          </a:xfrm>
          <a:prstGeom prst="roundRect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Buttressing: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Max. Buttressing Number → Passive Ice Boundaries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43"/>
          <p:cNvSpPr/>
          <p:nvPr/>
        </p:nvSpPr>
        <p:spPr>
          <a:xfrm>
            <a:off x="7448980" y="3187603"/>
            <a:ext cx="1538100" cy="550800"/>
          </a:xfrm>
          <a:prstGeom prst="roundRect">
            <a:avLst>
              <a:gd name="adj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Surface Mass Balance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66" name="Google Shape;266;p43"/>
          <p:cNvSpPr/>
          <p:nvPr/>
        </p:nvSpPr>
        <p:spPr>
          <a:xfrm>
            <a:off x="3524100" y="4309550"/>
            <a:ext cx="1770300" cy="672600"/>
          </a:xfrm>
          <a:prstGeom prst="roundRect">
            <a:avLst>
              <a:gd name="adj" fmla="val 50000"/>
            </a:avLst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Decision-making</a:t>
            </a:r>
            <a:endParaRPr sz="1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Framework</a:t>
            </a:r>
            <a:endParaRPr sz="1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7" name="Google Shape;267;p43"/>
          <p:cNvCxnSpPr>
            <a:stCxn id="250" idx="2"/>
            <a:endCxn id="262" idx="0"/>
          </p:cNvCxnSpPr>
          <p:nvPr/>
        </p:nvCxnSpPr>
        <p:spPr>
          <a:xfrm rot="-5400000" flipH="1">
            <a:off x="712250" y="2573800"/>
            <a:ext cx="692400" cy="357600"/>
          </a:xfrm>
          <a:prstGeom prst="bentConnector3">
            <a:avLst>
              <a:gd name="adj1" fmla="val 50011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8" name="Google Shape;268;p43"/>
          <p:cNvCxnSpPr>
            <a:stCxn id="252" idx="2"/>
            <a:endCxn id="263" idx="0"/>
          </p:cNvCxnSpPr>
          <p:nvPr/>
        </p:nvCxnSpPr>
        <p:spPr>
          <a:xfrm rot="-5400000" flipH="1">
            <a:off x="2562875" y="2191763"/>
            <a:ext cx="774600" cy="9432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9" name="Google Shape;269;p43"/>
          <p:cNvCxnSpPr>
            <a:stCxn id="255" idx="2"/>
            <a:endCxn id="263" idx="0"/>
          </p:cNvCxnSpPr>
          <p:nvPr/>
        </p:nvCxnSpPr>
        <p:spPr>
          <a:xfrm rot="5400000">
            <a:off x="3279950" y="2390225"/>
            <a:ext cx="802200" cy="5184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0" name="Google Shape;270;p43"/>
          <p:cNvCxnSpPr>
            <a:stCxn id="257" idx="2"/>
            <a:endCxn id="263" idx="0"/>
          </p:cNvCxnSpPr>
          <p:nvPr/>
        </p:nvCxnSpPr>
        <p:spPr>
          <a:xfrm rot="5400000">
            <a:off x="4030938" y="1638888"/>
            <a:ext cx="802500" cy="20211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71;p43"/>
          <p:cNvCxnSpPr>
            <a:stCxn id="258" idx="2"/>
            <a:endCxn id="263" idx="0"/>
          </p:cNvCxnSpPr>
          <p:nvPr/>
        </p:nvCxnSpPr>
        <p:spPr>
          <a:xfrm rot="5400000">
            <a:off x="4770850" y="876250"/>
            <a:ext cx="825300" cy="35235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2" name="Google Shape;272;p43"/>
          <p:cNvCxnSpPr>
            <a:stCxn id="255" idx="2"/>
            <a:endCxn id="264" idx="0"/>
          </p:cNvCxnSpPr>
          <p:nvPr/>
        </p:nvCxnSpPr>
        <p:spPr>
          <a:xfrm rot="-5400000" flipH="1">
            <a:off x="4478900" y="1709675"/>
            <a:ext cx="802200" cy="1879500"/>
          </a:xfrm>
          <a:prstGeom prst="bentConnector3">
            <a:avLst>
              <a:gd name="adj1" fmla="val 50008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3" name="Google Shape;273;p43"/>
          <p:cNvCxnSpPr>
            <a:stCxn id="257" idx="2"/>
            <a:endCxn id="264" idx="0"/>
          </p:cNvCxnSpPr>
          <p:nvPr/>
        </p:nvCxnSpPr>
        <p:spPr>
          <a:xfrm rot="-5400000" flipH="1">
            <a:off x="5230038" y="2460888"/>
            <a:ext cx="802500" cy="3771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4" name="Google Shape;274;p43"/>
          <p:cNvCxnSpPr>
            <a:stCxn id="258" idx="2"/>
            <a:endCxn id="264" idx="0"/>
          </p:cNvCxnSpPr>
          <p:nvPr/>
        </p:nvCxnSpPr>
        <p:spPr>
          <a:xfrm rot="5400000">
            <a:off x="5969950" y="2075350"/>
            <a:ext cx="825300" cy="1125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5" name="Google Shape;275;p43"/>
          <p:cNvCxnSpPr>
            <a:stCxn id="259" idx="2"/>
            <a:endCxn id="264" idx="0"/>
          </p:cNvCxnSpPr>
          <p:nvPr/>
        </p:nvCxnSpPr>
        <p:spPr>
          <a:xfrm rot="5400000">
            <a:off x="6702325" y="1343050"/>
            <a:ext cx="825300" cy="2589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6" name="Google Shape;276;p43"/>
          <p:cNvCxnSpPr>
            <a:stCxn id="262" idx="2"/>
            <a:endCxn id="266" idx="0"/>
          </p:cNvCxnSpPr>
          <p:nvPr/>
        </p:nvCxnSpPr>
        <p:spPr>
          <a:xfrm rot="-5400000" flipH="1">
            <a:off x="2582100" y="2482299"/>
            <a:ext cx="482400" cy="3171900"/>
          </a:xfrm>
          <a:prstGeom prst="bentConnector3">
            <a:avLst>
              <a:gd name="adj1" fmla="val 52477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7" name="Google Shape;277;p43"/>
          <p:cNvCxnSpPr>
            <a:stCxn id="263" idx="2"/>
            <a:endCxn id="266" idx="0"/>
          </p:cNvCxnSpPr>
          <p:nvPr/>
        </p:nvCxnSpPr>
        <p:spPr>
          <a:xfrm rot="-5400000" flipH="1">
            <a:off x="3698475" y="3598599"/>
            <a:ext cx="434100" cy="987600"/>
          </a:xfrm>
          <a:prstGeom prst="bentConnector3">
            <a:avLst>
              <a:gd name="adj1" fmla="val 50012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8" name="Google Shape;278;p43"/>
          <p:cNvCxnSpPr>
            <a:stCxn id="264" idx="2"/>
            <a:endCxn id="266" idx="0"/>
          </p:cNvCxnSpPr>
          <p:nvPr/>
        </p:nvCxnSpPr>
        <p:spPr>
          <a:xfrm rot="5400000">
            <a:off x="4897525" y="3387100"/>
            <a:ext cx="434100" cy="1410600"/>
          </a:xfrm>
          <a:prstGeom prst="bentConnector3">
            <a:avLst>
              <a:gd name="adj1" fmla="val 50012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9" name="Google Shape;279;p43"/>
          <p:cNvCxnSpPr>
            <a:stCxn id="265" idx="2"/>
            <a:endCxn id="266" idx="0"/>
          </p:cNvCxnSpPr>
          <p:nvPr/>
        </p:nvCxnSpPr>
        <p:spPr>
          <a:xfrm rot="5400000">
            <a:off x="6028030" y="2119603"/>
            <a:ext cx="571200" cy="3808800"/>
          </a:xfrm>
          <a:prstGeom prst="bentConnector3">
            <a:avLst>
              <a:gd name="adj1" fmla="val 61624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80" name="Google Shape;28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4660625"/>
            <a:ext cx="482675" cy="48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4" title="bmr_timeseries.png"/>
          <p:cNvPicPr preferRelativeResize="0"/>
          <p:nvPr/>
        </p:nvPicPr>
        <p:blipFill rotWithShape="1">
          <a:blip r:embed="rId3">
            <a:alphaModFix/>
          </a:blip>
          <a:srcRect t="49166"/>
          <a:stretch/>
        </p:blipFill>
        <p:spPr>
          <a:xfrm>
            <a:off x="295254" y="3120351"/>
            <a:ext cx="3478845" cy="133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4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287" name="Google Shape;287;p44" title="Figure_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550" y="1110251"/>
            <a:ext cx="3630249" cy="20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4"/>
          <p:cNvSpPr txBox="1">
            <a:spLocks noGrp="1"/>
          </p:cNvSpPr>
          <p:nvPr>
            <p:ph type="subTitle" idx="4"/>
          </p:nvPr>
        </p:nvSpPr>
        <p:spPr>
          <a:xfrm>
            <a:off x="453675" y="4131225"/>
            <a:ext cx="8440500" cy="13332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F7F7F"/>
                </a:solidFill>
              </a:rPr>
              <a:t>Melt usually </a:t>
            </a:r>
            <a:r>
              <a:rPr lang="en" sz="1400" b="1">
                <a:solidFill>
                  <a:srgbClr val="7F7F7F"/>
                </a:solidFill>
              </a:rPr>
              <a:t>amplified</a:t>
            </a:r>
            <a:r>
              <a:rPr lang="en" sz="1400">
                <a:solidFill>
                  <a:srgbClr val="7F7F7F"/>
                </a:solidFill>
              </a:rPr>
              <a:t> by basal cavity access, but at CIS bathymetry restricts mCDW supply to grounding line. However, bathymetry poorly constrained and sparse ocean observations increase uncertainties</a:t>
            </a:r>
            <a:endParaRPr sz="1400">
              <a:solidFill>
                <a:srgbClr val="7F7F7F"/>
              </a:solidFill>
            </a:endParaRPr>
          </a:p>
        </p:txBody>
      </p:sp>
      <p:pic>
        <p:nvPicPr>
          <p:cNvPr id="289" name="Google Shape;28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" y="4660625"/>
            <a:ext cx="482675" cy="4826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44"/>
          <p:cNvGrpSpPr/>
          <p:nvPr/>
        </p:nvGrpSpPr>
        <p:grpSpPr>
          <a:xfrm>
            <a:off x="3858800" y="740312"/>
            <a:ext cx="5285202" cy="3545800"/>
            <a:chOff x="3858800" y="604562"/>
            <a:chExt cx="5285202" cy="3545800"/>
          </a:xfrm>
        </p:grpSpPr>
        <p:pic>
          <p:nvPicPr>
            <p:cNvPr id="291" name="Google Shape;291;p44" title="Figure_4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858800" y="831650"/>
              <a:ext cx="5285202" cy="33187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44"/>
            <p:cNvSpPr txBox="1"/>
            <p:nvPr/>
          </p:nvSpPr>
          <p:spPr>
            <a:xfrm>
              <a:off x="4195625" y="605630"/>
              <a:ext cx="1382100" cy="1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</a:rPr>
                <a:t>Cross Section A</a:t>
              </a:r>
              <a:endParaRPr sz="1300">
                <a:solidFill>
                  <a:schemeClr val="dk2"/>
                </a:solidFill>
              </a:endParaRPr>
            </a:p>
          </p:txBody>
        </p:sp>
        <p:sp>
          <p:nvSpPr>
            <p:cNvPr id="293" name="Google Shape;293;p44"/>
            <p:cNvSpPr txBox="1"/>
            <p:nvPr/>
          </p:nvSpPr>
          <p:spPr>
            <a:xfrm>
              <a:off x="5915200" y="604562"/>
              <a:ext cx="1382100" cy="40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</a:rPr>
                <a:t>Cross Section B</a:t>
              </a:r>
              <a:endParaRPr sz="1300">
                <a:solidFill>
                  <a:schemeClr val="dk2"/>
                </a:solidFill>
              </a:endParaRPr>
            </a:p>
          </p:txBody>
        </p:sp>
        <p:sp>
          <p:nvSpPr>
            <p:cNvPr id="294" name="Google Shape;294;p44"/>
            <p:cNvSpPr txBox="1"/>
            <p:nvPr/>
          </p:nvSpPr>
          <p:spPr>
            <a:xfrm>
              <a:off x="7413360" y="605630"/>
              <a:ext cx="1382100" cy="18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2"/>
                  </a:solidFill>
                </a:rPr>
                <a:t>Cross Section C</a:t>
              </a:r>
              <a:endParaRPr sz="1300">
                <a:solidFill>
                  <a:schemeClr val="dk2"/>
                </a:solidFill>
              </a:endParaRPr>
            </a:p>
          </p:txBody>
        </p:sp>
      </p:grpSp>
      <p:sp>
        <p:nvSpPr>
          <p:cNvPr id="295" name="Google Shape;295;p44"/>
          <p:cNvSpPr txBox="1">
            <a:spLocks noGrp="1"/>
          </p:cNvSpPr>
          <p:nvPr>
            <p:ph type="body" idx="1"/>
          </p:nvPr>
        </p:nvSpPr>
        <p:spPr>
          <a:xfrm>
            <a:off x="453675" y="678575"/>
            <a:ext cx="3162000" cy="4827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F7F7F"/>
                </a:solidFill>
              </a:rPr>
              <a:t>Melt magnitude currently low, with little evidence of increased thinning</a:t>
            </a:r>
            <a:endParaRPr sz="1400">
              <a:solidFill>
                <a:srgbClr val="7F7F7F"/>
              </a:solidFill>
            </a:endParaRPr>
          </a:p>
        </p:txBody>
      </p:sp>
      <p:sp>
        <p:nvSpPr>
          <p:cNvPr id="296" name="Google Shape;296;p44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8806500" cy="270000"/>
          </a:xfrm>
          <a:prstGeom prst="rect">
            <a:avLst/>
          </a:prstGeom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Key Result 1: mCDW is the Dominant Mode of Melt</a:t>
            </a:r>
            <a:endParaRPr/>
          </a:p>
        </p:txBody>
      </p:sp>
      <p:sp>
        <p:nvSpPr>
          <p:cNvPr id="297" name="Google Shape;297;p44"/>
          <p:cNvSpPr txBox="1">
            <a:spLocks noGrp="1"/>
          </p:cNvSpPr>
          <p:nvPr>
            <p:ph type="subTitle" idx="4"/>
          </p:nvPr>
        </p:nvSpPr>
        <p:spPr>
          <a:xfrm>
            <a:off x="9675" y="4390625"/>
            <a:ext cx="4050000" cy="270000"/>
          </a:xfrm>
          <a:prstGeom prst="rect">
            <a:avLst/>
          </a:prstGeom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Figure 3: Basal melt rate of the Cook Ice Shelf, and as a timeseries</a:t>
            </a:r>
            <a:endParaRPr sz="80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298" name="Google Shape;298;p44"/>
          <p:cNvSpPr txBox="1">
            <a:spLocks noGrp="1"/>
          </p:cNvSpPr>
          <p:nvPr>
            <p:ph type="subTitle" idx="4"/>
          </p:nvPr>
        </p:nvSpPr>
        <p:spPr>
          <a:xfrm>
            <a:off x="4320000" y="4214675"/>
            <a:ext cx="4824000" cy="270000"/>
          </a:xfrm>
          <a:prstGeom prst="rect">
            <a:avLst/>
          </a:prstGeom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Figure 4: Cross section segments</a:t>
            </a:r>
            <a:endParaRPr sz="80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299" name="Google Shape;299;p44"/>
          <p:cNvSpPr txBox="1"/>
          <p:nvPr/>
        </p:nvSpPr>
        <p:spPr>
          <a:xfrm rot="-1848989">
            <a:off x="1704390" y="1790757"/>
            <a:ext cx="660563" cy="699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chemeClr val="lt1"/>
                </a:highlight>
              </a:rPr>
              <a:t>WW</a:t>
            </a:r>
            <a:endParaRPr sz="1800">
              <a:solidFill>
                <a:schemeClr val="lt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chemeClr val="lt1"/>
                </a:highlight>
              </a:rPr>
              <a:t>WW</a:t>
            </a:r>
            <a:endParaRPr sz="1800"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8874000" cy="666600"/>
          </a:xfrm>
          <a:prstGeom prst="rect">
            <a:avLst/>
          </a:prstGeom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Key Result 2: Extensive Crevasses, but No Evidence of Impact on Calving</a:t>
            </a:r>
            <a:endParaRPr sz="2500"/>
          </a:p>
        </p:txBody>
      </p:sp>
      <p:pic>
        <p:nvPicPr>
          <p:cNvPr id="305" name="Google Shape;305;p45" title="Figure_5.jpg"/>
          <p:cNvPicPr preferRelativeResize="0"/>
          <p:nvPr/>
        </p:nvPicPr>
        <p:blipFill rotWithShape="1">
          <a:blip r:embed="rId3">
            <a:alphaModFix/>
          </a:blip>
          <a:srcRect b="43413"/>
          <a:stretch/>
        </p:blipFill>
        <p:spPr>
          <a:xfrm>
            <a:off x="3542700" y="1131676"/>
            <a:ext cx="5601300" cy="301952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5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07" name="Google Shape;307;p45"/>
          <p:cNvSpPr txBox="1">
            <a:spLocks noGrp="1"/>
          </p:cNvSpPr>
          <p:nvPr>
            <p:ph type="subTitle" idx="4"/>
          </p:nvPr>
        </p:nvSpPr>
        <p:spPr>
          <a:xfrm>
            <a:off x="4210800" y="4200250"/>
            <a:ext cx="4433700" cy="350400"/>
          </a:xfrm>
          <a:prstGeom prst="rect">
            <a:avLst/>
          </a:prstGeom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Figure 5: Conditional probability of crevasses occurring, given the strain rate for that region. Calving front evolution over time shown in coloured lines</a:t>
            </a:r>
            <a:endParaRPr sz="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308" name="Google Shape;308;p45"/>
          <p:cNvSpPr txBox="1">
            <a:spLocks noGrp="1"/>
          </p:cNvSpPr>
          <p:nvPr>
            <p:ph type="subTitle" idx="4"/>
          </p:nvPr>
        </p:nvSpPr>
        <p:spPr>
          <a:xfrm>
            <a:off x="136700" y="824825"/>
            <a:ext cx="3490200" cy="38358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Crevasses most likely to form in the: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far west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eastern shear margin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within 5 - 10 km of the grounding line</a:t>
            </a: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Consistent increase in ice extent area suggests: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absence of major calving events between 2006 and 2018</a:t>
            </a:r>
            <a:endParaRPr sz="1400">
              <a:solidFill>
                <a:schemeClr val="dk2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sz="1400">
                <a:solidFill>
                  <a:schemeClr val="dk2"/>
                </a:solidFill>
              </a:rPr>
              <a:t>crevassing not currently driving calving</a:t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id="309" name="Google Shape;30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" y="4660625"/>
            <a:ext cx="482675" cy="4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5"/>
          <p:cNvSpPr txBox="1"/>
          <p:nvPr/>
        </p:nvSpPr>
        <p:spPr>
          <a:xfrm>
            <a:off x="6425775" y="2991050"/>
            <a:ext cx="6606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chemeClr val="lt1"/>
                </a:highlight>
              </a:rPr>
              <a:t>WW</a:t>
            </a:r>
            <a:endParaRPr sz="1800">
              <a:solidFill>
                <a:schemeClr val="lt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chemeClr val="lt1"/>
                </a:highlight>
              </a:rPr>
              <a:t>WW</a:t>
            </a:r>
            <a:endParaRPr sz="1800"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8873700" cy="270000"/>
          </a:xfrm>
          <a:prstGeom prst="rect">
            <a:avLst/>
          </a:prstGeom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Result 3: No Significant Change in Buttressing</a:t>
            </a:r>
            <a:endParaRPr/>
          </a:p>
        </p:txBody>
      </p:sp>
      <p:sp>
        <p:nvSpPr>
          <p:cNvPr id="316" name="Google Shape;316;p46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317" name="Google Shape;317;p46" title="Figure_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3450"/>
            <a:ext cx="5126226" cy="440284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6"/>
          <p:cNvSpPr txBox="1">
            <a:spLocks noGrp="1"/>
          </p:cNvSpPr>
          <p:nvPr>
            <p:ph type="subTitle" idx="4"/>
          </p:nvPr>
        </p:nvSpPr>
        <p:spPr>
          <a:xfrm>
            <a:off x="4822375" y="4671250"/>
            <a:ext cx="4321500" cy="472500"/>
          </a:xfrm>
          <a:prstGeom prst="rect">
            <a:avLst/>
          </a:prstGeom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Figure 6: (a) Passive ice boundaries. (b) The Cook Ice Shelf flux timeseries. Note that the years 2007, 2012 and 2013 are excluded due to insufficient data.</a:t>
            </a:r>
            <a:endParaRPr sz="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319" name="Google Shape;319;p46"/>
          <p:cNvSpPr txBox="1">
            <a:spLocks noGrp="1"/>
          </p:cNvSpPr>
          <p:nvPr>
            <p:ph type="subTitle" idx="4"/>
          </p:nvPr>
        </p:nvSpPr>
        <p:spPr>
          <a:xfrm>
            <a:off x="5126225" y="906150"/>
            <a:ext cx="4017600" cy="33312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“Upper Half” = Active Buttressing Ice:</a:t>
            </a:r>
            <a:endParaRPr sz="15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Slowing flow and thinning</a:t>
            </a:r>
            <a:endParaRPr sz="15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“Lower Half” = Passive Ice (no buttressing):</a:t>
            </a:r>
            <a:endParaRPr sz="15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Allows for faster flow and thinning</a:t>
            </a:r>
            <a:endParaRPr sz="15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No substantial calving within the active zone</a:t>
            </a:r>
            <a:endParaRPr sz="15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Decreasing Outflux (Negative):</a:t>
            </a:r>
            <a:endParaRPr sz="15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Net Ice Gain (Thickening) 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320" name="Google Shape;320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480575" y="3"/>
            <a:ext cx="663425" cy="66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6"/>
          <p:cNvSpPr txBox="1"/>
          <p:nvPr/>
        </p:nvSpPr>
        <p:spPr>
          <a:xfrm>
            <a:off x="560334" y="2036748"/>
            <a:ext cx="12900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300" tIns="97300" rIns="97300" bIns="973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2" b="1">
                <a:solidFill>
                  <a:srgbClr val="1C4587"/>
                </a:solidFill>
                <a:highlight>
                  <a:schemeClr val="lt2"/>
                </a:highlight>
              </a:rPr>
              <a:t>Active</a:t>
            </a:r>
            <a:endParaRPr sz="1702" b="1">
              <a:solidFill>
                <a:srgbClr val="1C4587"/>
              </a:solidFill>
              <a:highlight>
                <a:schemeClr val="lt2"/>
              </a:highlight>
            </a:endParaRPr>
          </a:p>
        </p:txBody>
      </p:sp>
      <p:sp>
        <p:nvSpPr>
          <p:cNvPr id="322" name="Google Shape;322;p46"/>
          <p:cNvSpPr txBox="1"/>
          <p:nvPr/>
        </p:nvSpPr>
        <p:spPr>
          <a:xfrm>
            <a:off x="1703992" y="2222768"/>
            <a:ext cx="12900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300" tIns="97300" rIns="97300" bIns="973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2" b="1">
                <a:solidFill>
                  <a:srgbClr val="980000"/>
                </a:solidFill>
                <a:highlight>
                  <a:schemeClr val="lt2"/>
                </a:highlight>
              </a:rPr>
              <a:t>Passive</a:t>
            </a:r>
            <a:endParaRPr sz="1702" b="1">
              <a:solidFill>
                <a:srgbClr val="980000"/>
              </a:solidFill>
              <a:highlight>
                <a:schemeClr val="lt2"/>
              </a:highlight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1925200" y="2419550"/>
            <a:ext cx="6606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chemeClr val="lt1"/>
                </a:highlight>
              </a:rPr>
              <a:t>WW</a:t>
            </a:r>
            <a:endParaRPr sz="1800">
              <a:solidFill>
                <a:schemeClr val="lt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chemeClr val="lt1"/>
                </a:highlight>
              </a:rPr>
              <a:t>WW</a:t>
            </a:r>
            <a:endParaRPr sz="1800"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8873700" cy="270000"/>
          </a:xfrm>
          <a:prstGeom prst="rect">
            <a:avLst/>
          </a:prstGeom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Overall Findings</a:t>
            </a:r>
            <a:endParaRPr/>
          </a:p>
        </p:txBody>
      </p:sp>
      <p:sp>
        <p:nvSpPr>
          <p:cNvPr id="329" name="Google Shape;329;p47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30" name="Google Shape;330;p47"/>
          <p:cNvSpPr txBox="1">
            <a:spLocks noGrp="1"/>
          </p:cNvSpPr>
          <p:nvPr>
            <p:ph type="subTitle" idx="4"/>
          </p:nvPr>
        </p:nvSpPr>
        <p:spPr>
          <a:xfrm>
            <a:off x="-175" y="906150"/>
            <a:ext cx="9144000" cy="33312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Cook Ice Shelf is not currently thinning, with an increase in ice shelf area and no substantive change in buttressing</a:t>
            </a:r>
            <a:endParaRPr sz="1500">
              <a:solidFill>
                <a:schemeClr val="dk2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There is little evidence of a current response to climate change</a:t>
            </a:r>
            <a:endParaRPr sz="1500">
              <a:solidFill>
                <a:schemeClr val="dk2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The largest source of uncertainty is the supply of warm water into the ice shelf cavity → need for improved constraints on processes driving melt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331" name="Google Shape;33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480575" y="3"/>
            <a:ext cx="663425" cy="66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8" title="Figure_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550" y="551050"/>
            <a:ext cx="5994450" cy="4592451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8"/>
          <p:cNvSpPr txBox="1">
            <a:spLocks noGrp="1"/>
          </p:cNvSpPr>
          <p:nvPr>
            <p:ph type="subTitle" idx="4"/>
          </p:nvPr>
        </p:nvSpPr>
        <p:spPr>
          <a:xfrm>
            <a:off x="270000" y="432000"/>
            <a:ext cx="4050000" cy="270000"/>
          </a:xfrm>
          <a:prstGeom prst="rect">
            <a:avLst/>
          </a:prstGeom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Framework</a:t>
            </a:r>
            <a:endParaRPr sz="1500"/>
          </a:p>
        </p:txBody>
      </p:sp>
      <p:sp>
        <p:nvSpPr>
          <p:cNvPr id="338" name="Google Shape;338;p48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8874000" cy="270000"/>
          </a:xfrm>
          <a:prstGeom prst="rect">
            <a:avLst/>
          </a:prstGeom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Decision-making Framework for ApRES Deployment</a:t>
            </a:r>
            <a:endParaRPr/>
          </a:p>
        </p:txBody>
      </p:sp>
      <p:sp>
        <p:nvSpPr>
          <p:cNvPr id="339" name="Google Shape;339;p48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40" name="Google Shape;340;p48"/>
          <p:cNvSpPr txBox="1">
            <a:spLocks noGrp="1"/>
          </p:cNvSpPr>
          <p:nvPr>
            <p:ph type="subTitle" idx="4"/>
          </p:nvPr>
        </p:nvSpPr>
        <p:spPr>
          <a:xfrm>
            <a:off x="0" y="4793150"/>
            <a:ext cx="3408900" cy="350400"/>
          </a:xfrm>
          <a:prstGeom prst="rect">
            <a:avLst/>
          </a:prstGeom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Figure 7: Normalised factor influence attributed to (a) basal melt rates (b) crevasses (c) buttressing, and (d) surface mass balance.</a:t>
            </a:r>
            <a:endParaRPr sz="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sp>
        <p:nvSpPr>
          <p:cNvPr id="341" name="Google Shape;341;p48"/>
          <p:cNvSpPr txBox="1">
            <a:spLocks noGrp="1"/>
          </p:cNvSpPr>
          <p:nvPr>
            <p:ph type="subTitle" idx="4"/>
          </p:nvPr>
        </p:nvSpPr>
        <p:spPr>
          <a:xfrm>
            <a:off x="167325" y="942600"/>
            <a:ext cx="3179100" cy="32583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Fields Scaled from 0 to 1: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0 = Low Risk to Ice Shelf Vulnerability of Climate Change</a:t>
            </a: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>
                <a:solidFill>
                  <a:schemeClr val="dk2"/>
                </a:solidFill>
              </a:rPr>
              <a:t>1 = High Risk of Ice Shelf Vulnerability to Climate Change (target)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342" name="Google Shape;34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" y="4310475"/>
            <a:ext cx="482675" cy="4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8"/>
          <p:cNvSpPr txBox="1"/>
          <p:nvPr/>
        </p:nvSpPr>
        <p:spPr>
          <a:xfrm>
            <a:off x="4721475" y="1987925"/>
            <a:ext cx="6606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chemeClr val="lt1"/>
                </a:highlight>
              </a:rPr>
              <a:t>WW</a:t>
            </a:r>
            <a:endParaRPr sz="1800"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49" title="Figure_las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57313"/>
            <a:ext cx="4572001" cy="3786189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9"/>
          <p:cNvSpPr txBox="1">
            <a:spLocks noGrp="1"/>
          </p:cNvSpPr>
          <p:nvPr>
            <p:ph type="subTitle" idx="4"/>
          </p:nvPr>
        </p:nvSpPr>
        <p:spPr>
          <a:xfrm>
            <a:off x="270000" y="432000"/>
            <a:ext cx="4050000" cy="270000"/>
          </a:xfrm>
          <a:prstGeom prst="rect">
            <a:avLst/>
          </a:prstGeom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Framework (Cont.)</a:t>
            </a:r>
            <a:endParaRPr sz="1500"/>
          </a:p>
        </p:txBody>
      </p:sp>
      <p:sp>
        <p:nvSpPr>
          <p:cNvPr id="350" name="Google Shape;350;p49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51" name="Google Shape;351;p49"/>
          <p:cNvSpPr txBox="1"/>
          <p:nvPr/>
        </p:nvSpPr>
        <p:spPr>
          <a:xfrm>
            <a:off x="0" y="1357325"/>
            <a:ext cx="4572000" cy="32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Ideal Regions for ApRES Deployment:</a:t>
            </a:r>
            <a:endParaRPr sz="16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</a:rPr>
              <a:t>Southern-Central Region (score &gt;= 0.5)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Unsuitable regions:</a:t>
            </a:r>
            <a:endParaRPr sz="16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West due to Crevasses</a:t>
            </a: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North due to Passive Ice</a:t>
            </a: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East due to High SMB</a:t>
            </a: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352" name="Google Shape;352;p49"/>
          <p:cNvSpPr txBox="1">
            <a:spLocks noGrp="1"/>
          </p:cNvSpPr>
          <p:nvPr>
            <p:ph type="subTitle" idx="4"/>
          </p:nvPr>
        </p:nvSpPr>
        <p:spPr>
          <a:xfrm>
            <a:off x="0" y="4793150"/>
            <a:ext cx="4719000" cy="350400"/>
          </a:xfrm>
          <a:prstGeom prst="rect">
            <a:avLst/>
          </a:prstGeom>
        </p:spPr>
        <p:txBody>
          <a:bodyPr spcFirstLastPara="1" wrap="square" lIns="27000" tIns="27000" rIns="27000" bIns="270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Figure 8: The combined ApRES deployment framework addressed for investigating experiencing intense ocean-driven melt.</a:t>
            </a:r>
            <a:endParaRPr sz="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9"/>
          <p:cNvSpPr txBox="1"/>
          <p:nvPr/>
        </p:nvSpPr>
        <p:spPr>
          <a:xfrm>
            <a:off x="0" y="678588"/>
            <a:ext cx="91440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solidFill>
                  <a:schemeClr val="dk1"/>
                </a:solidFill>
              </a:rPr>
              <a:t> S</a:t>
            </a:r>
            <a:r>
              <a:rPr lang="en" sz="1500" i="1" baseline="-25000">
                <a:solidFill>
                  <a:schemeClr val="dk1"/>
                </a:solidFill>
              </a:rPr>
              <a:t>Weighted</a:t>
            </a:r>
            <a:r>
              <a:rPr lang="en" sz="1500" i="1">
                <a:solidFill>
                  <a:schemeClr val="dk1"/>
                </a:solidFill>
              </a:rPr>
              <a:t> = (0.7S</a:t>
            </a:r>
            <a:r>
              <a:rPr lang="en" sz="1500" i="1" baseline="-25000">
                <a:solidFill>
                  <a:schemeClr val="dk1"/>
                </a:solidFill>
              </a:rPr>
              <a:t>M</a:t>
            </a:r>
            <a:r>
              <a:rPr lang="en" sz="1500" i="1">
                <a:solidFill>
                  <a:schemeClr val="dk1"/>
                </a:solidFill>
              </a:rPr>
              <a:t> + 0.3S</a:t>
            </a:r>
            <a:r>
              <a:rPr lang="en" sz="1500" i="1" baseline="-25000">
                <a:solidFill>
                  <a:schemeClr val="dk1"/>
                </a:solidFill>
              </a:rPr>
              <a:t>B</a:t>
            </a:r>
            <a:r>
              <a:rPr lang="en" sz="1500" i="1">
                <a:solidFill>
                  <a:schemeClr val="dk1"/>
                </a:solidFill>
              </a:rPr>
              <a:t>) x (1.0S</a:t>
            </a:r>
            <a:r>
              <a:rPr lang="en" sz="1500" i="1" baseline="-25000">
                <a:solidFill>
                  <a:schemeClr val="dk1"/>
                </a:solidFill>
              </a:rPr>
              <a:t>C</a:t>
            </a:r>
            <a:r>
              <a:rPr lang="en" sz="1500" i="1">
                <a:solidFill>
                  <a:schemeClr val="dk1"/>
                </a:solidFill>
              </a:rPr>
              <a:t> x 0.8S</a:t>
            </a:r>
            <a:r>
              <a:rPr lang="en" sz="1500" i="1" baseline="-25000">
                <a:solidFill>
                  <a:schemeClr val="dk1"/>
                </a:solidFill>
              </a:rPr>
              <a:t>S</a:t>
            </a:r>
            <a:r>
              <a:rPr lang="en" sz="1500" i="1">
                <a:solidFill>
                  <a:schemeClr val="dk1"/>
                </a:solidFill>
              </a:rPr>
              <a:t>)</a:t>
            </a:r>
            <a:endParaRPr sz="1500" i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S</a:t>
            </a:r>
            <a:r>
              <a:rPr lang="en" sz="1500" baseline="-25000">
                <a:solidFill>
                  <a:schemeClr val="dk1"/>
                </a:solidFill>
              </a:rPr>
              <a:t>M</a:t>
            </a:r>
            <a:r>
              <a:rPr lang="en" sz="1500">
                <a:solidFill>
                  <a:schemeClr val="dk1"/>
                </a:solidFill>
              </a:rPr>
              <a:t> = BMR score, S</a:t>
            </a:r>
            <a:r>
              <a:rPr lang="en" sz="1500" baseline="-25000">
                <a:solidFill>
                  <a:schemeClr val="dk1"/>
                </a:solidFill>
              </a:rPr>
              <a:t>B</a:t>
            </a:r>
            <a:r>
              <a:rPr lang="en" sz="1500">
                <a:solidFill>
                  <a:schemeClr val="dk1"/>
                </a:solidFill>
              </a:rPr>
              <a:t> = Buttressing score, S</a:t>
            </a:r>
            <a:r>
              <a:rPr lang="en" sz="1500" baseline="-25000">
                <a:solidFill>
                  <a:schemeClr val="dk1"/>
                </a:solidFill>
              </a:rPr>
              <a:t>C</a:t>
            </a:r>
            <a:r>
              <a:rPr lang="en" sz="1500">
                <a:solidFill>
                  <a:schemeClr val="dk1"/>
                </a:solidFill>
              </a:rPr>
              <a:t> = Crevassing Score, S</a:t>
            </a:r>
            <a:r>
              <a:rPr lang="en" sz="1500" baseline="-25000">
                <a:solidFill>
                  <a:schemeClr val="dk1"/>
                </a:solidFill>
              </a:rPr>
              <a:t>S</a:t>
            </a:r>
            <a:r>
              <a:rPr lang="en" sz="1500">
                <a:solidFill>
                  <a:schemeClr val="dk1"/>
                </a:solidFill>
              </a:rPr>
              <a:t> = SMB score</a:t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354" name="Google Shape;354;p49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8874000" cy="270000"/>
          </a:xfrm>
          <a:prstGeom prst="rect">
            <a:avLst/>
          </a:prstGeom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Decision-making Framework for ApRES Deployment</a:t>
            </a:r>
            <a:endParaRPr/>
          </a:p>
        </p:txBody>
      </p:sp>
      <p:pic>
        <p:nvPicPr>
          <p:cNvPr id="355" name="Google Shape;35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" y="4310475"/>
            <a:ext cx="482675" cy="4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9"/>
          <p:cNvSpPr txBox="1"/>
          <p:nvPr/>
        </p:nvSpPr>
        <p:spPr>
          <a:xfrm>
            <a:off x="7446325" y="3610575"/>
            <a:ext cx="6606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chemeClr val="lt1"/>
                </a:highlight>
              </a:rPr>
              <a:t>WW</a:t>
            </a:r>
            <a:endParaRPr sz="1800">
              <a:solidFill>
                <a:schemeClr val="lt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highlight>
                  <a:schemeClr val="lt1"/>
                </a:highlight>
              </a:rPr>
              <a:t>WW</a:t>
            </a:r>
            <a:endParaRPr sz="1800"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0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5571600" cy="270000"/>
          </a:xfrm>
          <a:prstGeom prst="rect">
            <a:avLst/>
          </a:prstGeom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Implications</a:t>
            </a:r>
            <a:endParaRPr/>
          </a:p>
        </p:txBody>
      </p:sp>
      <p:sp>
        <p:nvSpPr>
          <p:cNvPr id="362" name="Google Shape;362;p50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63" name="Google Shape;363;p50"/>
          <p:cNvSpPr txBox="1"/>
          <p:nvPr/>
        </p:nvSpPr>
        <p:spPr>
          <a:xfrm>
            <a:off x="0" y="830250"/>
            <a:ext cx="9144000" cy="3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Low basal melt rates suggest current low vulnerability of the CIS to climate change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Crevasses are widely present, yet no calving events suggest that the vulnerability state of the ice shelf to climate change is sufficiently stable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Consistent buttressing state indicates that the vulnerability of the CIS to climate change is yet to escalate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Uncertainties in ocean and bathymetry data call the need for a melt-based decision-making framework for ApRES deployment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 b="1">
                <a:solidFill>
                  <a:schemeClr val="dk2"/>
                </a:solidFill>
              </a:rPr>
              <a:t>→ harnessing real-life opportunities provided by Antarctic InSync projects</a:t>
            </a:r>
            <a:endParaRPr sz="1800" b="1">
              <a:solidFill>
                <a:schemeClr val="dk2"/>
              </a:solidFill>
            </a:endParaRPr>
          </a:p>
        </p:txBody>
      </p:sp>
      <p:pic>
        <p:nvPicPr>
          <p:cNvPr id="364" name="Google Shape;36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4246875"/>
            <a:ext cx="896425" cy="89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65339" y="4246875"/>
            <a:ext cx="896425" cy="89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1"/>
          <p:cNvSpPr txBox="1">
            <a:spLocks noGrp="1"/>
          </p:cNvSpPr>
          <p:nvPr>
            <p:ph type="title"/>
          </p:nvPr>
        </p:nvSpPr>
        <p:spPr>
          <a:xfrm>
            <a:off x="270000" y="229500"/>
            <a:ext cx="7636200" cy="270000"/>
          </a:xfrm>
          <a:prstGeom prst="rect">
            <a:avLst/>
          </a:prstGeom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Acknowledgements and References</a:t>
            </a:r>
            <a:endParaRPr/>
          </a:p>
        </p:txBody>
      </p:sp>
      <p:sp>
        <p:nvSpPr>
          <p:cNvPr id="371" name="Google Shape;371;p51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372" name="Google Shape;372;p51"/>
          <p:cNvSpPr txBox="1"/>
          <p:nvPr/>
        </p:nvSpPr>
        <p:spPr>
          <a:xfrm>
            <a:off x="0" y="499500"/>
            <a:ext cx="9144000" cy="4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 b="1">
                <a:solidFill>
                  <a:schemeClr val="dk2"/>
                </a:solidFill>
              </a:rPr>
              <a:t>Supervisor: Dr. Felicity McCormack (Monash University), MISI and SAEF</a:t>
            </a:r>
            <a:endParaRPr sz="1600" b="1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</a:endParaRPr>
          </a:p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BINDSCHADLER, R., VORNBERGER, P., FLEMING, A., FOX, A., MULLINS, J., BINNIE, D., PAULSEN, S. J., GRANNEMAN, B. &amp; GORODETZKY, D. 2008. The Landsat image mosaic of Antarctica. </a:t>
            </a:r>
            <a:r>
              <a:rPr lang="en" sz="1100" i="1">
                <a:solidFill>
                  <a:schemeClr val="dk1"/>
                </a:solidFill>
              </a:rPr>
              <a:t>Remote Sensing of Environment,</a:t>
            </a:r>
            <a:r>
              <a:rPr lang="en" sz="1100">
                <a:solidFill>
                  <a:schemeClr val="dk1"/>
                </a:solidFill>
              </a:rPr>
              <a:t> 112</a:t>
            </a:r>
            <a:r>
              <a:rPr lang="en" sz="1100" b="1">
                <a:solidFill>
                  <a:schemeClr val="dk1"/>
                </a:solidFill>
              </a:rPr>
              <a:t>,</a:t>
            </a:r>
            <a:r>
              <a:rPr lang="en" sz="1100">
                <a:solidFill>
                  <a:schemeClr val="dk1"/>
                </a:solidFill>
              </a:rPr>
              <a:t> 4214-4226.</a:t>
            </a:r>
            <a:endParaRPr sz="1100">
              <a:solidFill>
                <a:schemeClr val="dk1"/>
              </a:solidFill>
            </a:endParaRPr>
          </a:p>
          <a:p>
            <a:pPr marL="466344" lvl="0" indent="-4663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BINDSCHADLER, R. &amp; CHOI, H. 2011. </a:t>
            </a:r>
            <a:r>
              <a:rPr lang="en" sz="1100" i="1">
                <a:solidFill>
                  <a:schemeClr val="dk1"/>
                </a:solidFill>
              </a:rPr>
              <a:t>High-resolution Image-derived Grounding and Hydrostatic Lines for the Antarctic Ice Sheet </a:t>
            </a:r>
            <a:r>
              <a:rPr lang="en" sz="1100">
                <a:solidFill>
                  <a:schemeClr val="dk1"/>
                </a:solidFill>
              </a:rPr>
              <a:t>[Online]. U.S. Antarctic Program (USAP) Data Center. Available: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https://www.usap-dc.org/view/dataset/609489</a:t>
            </a:r>
            <a:r>
              <a:rPr lang="en" sz="1100">
                <a:solidFill>
                  <a:schemeClr val="dk1"/>
                </a:solidFill>
              </a:rPr>
              <a:t> [Accessed 3/5 2025].</a:t>
            </a:r>
            <a:endParaRPr sz="1100">
              <a:solidFill>
                <a:schemeClr val="dk1"/>
              </a:solidFill>
            </a:endParaRPr>
          </a:p>
          <a:p>
            <a:pPr marL="466344" lvl="0" indent="-4663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FRETWELL, P., PRITCHARD, H. D., VAUGHAN, D. G., BAMBER, J. L., BARRAND, N. E., BELL, R., BIANCHI, C., BINGHAM, R., BLANKENSHIP, D. D. &amp; CASASSA, G. 2013. Bedmap2: improved ice bed, surface and thickness datasets for Antarctica. </a:t>
            </a:r>
            <a:r>
              <a:rPr lang="en" sz="1100" i="1">
                <a:solidFill>
                  <a:schemeClr val="dk1"/>
                </a:solidFill>
              </a:rPr>
              <a:t>The cryosphere,</a:t>
            </a:r>
            <a:r>
              <a:rPr lang="en" sz="1100">
                <a:solidFill>
                  <a:schemeClr val="dk1"/>
                </a:solidFill>
              </a:rPr>
              <a:t> 7</a:t>
            </a:r>
            <a:r>
              <a:rPr lang="en" sz="1100" b="1">
                <a:solidFill>
                  <a:schemeClr val="dk1"/>
                </a:solidFill>
              </a:rPr>
              <a:t>,</a:t>
            </a:r>
            <a:r>
              <a:rPr lang="en" sz="1100">
                <a:solidFill>
                  <a:schemeClr val="dk1"/>
                </a:solidFill>
              </a:rPr>
              <a:t> 375-393.</a:t>
            </a:r>
            <a:endParaRPr sz="1100">
              <a:solidFill>
                <a:schemeClr val="dk1"/>
              </a:solidFill>
            </a:endParaRPr>
          </a:p>
          <a:p>
            <a:pPr marL="466344" lvl="0" indent="-4663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GREENE, C., GARDNER, A., SCHLEGEL, N. &amp; FRASER, A. 2024. MEaSUREs ITS_LIVE Antarctic Annual 240 m Ice Sheet Extent Masks, 1997-2021, Version 1. </a:t>
            </a:r>
            <a:r>
              <a:rPr lang="en" sz="1100" i="1">
                <a:solidFill>
                  <a:schemeClr val="dk1"/>
                </a:solidFill>
              </a:rPr>
              <a:t>NASA National Snow and Ice Data Center Distributed Active Archive Center (DAAC) data set</a:t>
            </a:r>
            <a:r>
              <a:rPr lang="en" sz="1100" b="1">
                <a:solidFill>
                  <a:schemeClr val="dk1"/>
                </a:solidFill>
              </a:rPr>
              <a:t>,</a:t>
            </a:r>
            <a:r>
              <a:rPr lang="en" sz="1100">
                <a:solidFill>
                  <a:schemeClr val="dk1"/>
                </a:solidFill>
              </a:rPr>
              <a:t> 9ZFX84T5GI6D.</a:t>
            </a:r>
            <a:endParaRPr sz="1100">
              <a:solidFill>
                <a:schemeClr val="dk1"/>
              </a:solidFill>
            </a:endParaRPr>
          </a:p>
          <a:p>
            <a:pPr marL="466344" lvl="0" indent="-4663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JACKETT, D. &amp; MCDOUGALL, T. 1997. A Neutral Density Variable for the World's Oceans. </a:t>
            </a:r>
            <a:r>
              <a:rPr lang="en" sz="1100" i="1">
                <a:solidFill>
                  <a:schemeClr val="dk1"/>
                </a:solidFill>
              </a:rPr>
              <a:t>Journal of Physical Oceanography,</a:t>
            </a:r>
            <a:r>
              <a:rPr lang="en" sz="1100">
                <a:solidFill>
                  <a:schemeClr val="dk1"/>
                </a:solidFill>
              </a:rPr>
              <a:t> 27</a:t>
            </a:r>
            <a:r>
              <a:rPr lang="en" sz="1100" b="1">
                <a:solidFill>
                  <a:schemeClr val="dk1"/>
                </a:solidFill>
              </a:rPr>
              <a:t>,</a:t>
            </a:r>
            <a:r>
              <a:rPr lang="en" sz="1100">
                <a:solidFill>
                  <a:schemeClr val="dk1"/>
                </a:solidFill>
              </a:rPr>
              <a:t> 237-263.</a:t>
            </a:r>
            <a:endParaRPr sz="1100">
              <a:solidFill>
                <a:schemeClr val="dk1"/>
              </a:solidFill>
            </a:endParaRPr>
          </a:p>
          <a:p>
            <a:pPr marL="466344" lvl="0" indent="-4663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LAROUR, E., SEROUSSI, H., MORLIGHEM, M. &amp; RIGNOT, E. 2012. Continental scale, high order, high spatial resolution, ice sheet modeling using the Ice Sheet System Model (ISSM). </a:t>
            </a:r>
            <a:r>
              <a:rPr lang="en" sz="1100" i="1">
                <a:solidFill>
                  <a:schemeClr val="dk1"/>
                </a:solidFill>
              </a:rPr>
              <a:t>Journal of Geophysical Research: Earth Surface,</a:t>
            </a:r>
            <a:r>
              <a:rPr lang="en" sz="1100">
                <a:solidFill>
                  <a:schemeClr val="dk1"/>
                </a:solidFill>
              </a:rPr>
              <a:t> 117.</a:t>
            </a:r>
            <a:endParaRPr sz="1100">
              <a:solidFill>
                <a:schemeClr val="dk1"/>
              </a:solidFill>
            </a:endParaRPr>
          </a:p>
          <a:p>
            <a:pPr marL="466344" lvl="0" indent="-4663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MCDOUGALL, T. J. &amp; BARKER, P. M. 2011. Getting started with TEOS-10 and the Gibbs Seawater (GSW) oceanographic toolbox. </a:t>
            </a:r>
            <a:r>
              <a:rPr lang="en" sz="1100" i="1">
                <a:solidFill>
                  <a:schemeClr val="dk1"/>
                </a:solidFill>
              </a:rPr>
              <a:t>Scor/iapso WG,</a:t>
            </a:r>
            <a:r>
              <a:rPr lang="en" sz="1100">
                <a:solidFill>
                  <a:schemeClr val="dk1"/>
                </a:solidFill>
              </a:rPr>
              <a:t> 127</a:t>
            </a:r>
            <a:r>
              <a:rPr lang="en" sz="1100" b="1">
                <a:solidFill>
                  <a:schemeClr val="dk1"/>
                </a:solidFill>
              </a:rPr>
              <a:t>,</a:t>
            </a:r>
            <a:r>
              <a:rPr lang="en" sz="1100">
                <a:solidFill>
                  <a:schemeClr val="dk1"/>
                </a:solidFill>
              </a:rPr>
              <a:t> 1-28.</a:t>
            </a:r>
            <a:endParaRPr sz="1100">
              <a:solidFill>
                <a:schemeClr val="dk1"/>
              </a:solidFill>
            </a:endParaRPr>
          </a:p>
          <a:p>
            <a:pPr marL="466344" lvl="0" indent="-4663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MORLIGHEM, M., RIGNOT, E., BINDER, T., BLANKENSHIP, D., DREWS, R., EAGLES, G., EISEN, O., FERRACCIOLI, F., FORSBERG, R. &amp; FRETWELL, P. 2020. Deep glacial troughs and stabilizing ridges unveiled beneath the margins of the Antarctic ice sheet. </a:t>
            </a:r>
            <a:r>
              <a:rPr lang="en" sz="1100" i="1">
                <a:solidFill>
                  <a:schemeClr val="dk1"/>
                </a:solidFill>
              </a:rPr>
              <a:t>Nature geoscience,</a:t>
            </a:r>
            <a:r>
              <a:rPr lang="en" sz="1100">
                <a:solidFill>
                  <a:schemeClr val="dk1"/>
                </a:solidFill>
              </a:rPr>
              <a:t> 13</a:t>
            </a:r>
            <a:r>
              <a:rPr lang="en" sz="1100" b="1">
                <a:solidFill>
                  <a:schemeClr val="dk1"/>
                </a:solidFill>
              </a:rPr>
              <a:t>,</a:t>
            </a:r>
            <a:r>
              <a:rPr lang="en" sz="1100">
                <a:solidFill>
                  <a:schemeClr val="dk1"/>
                </a:solidFill>
              </a:rPr>
              <a:t> 132-137.</a:t>
            </a:r>
            <a:endParaRPr sz="1100">
              <a:solidFill>
                <a:schemeClr val="dk1"/>
              </a:solidFill>
            </a:endParaRPr>
          </a:p>
          <a:p>
            <a:pPr marL="466344" lvl="0" indent="-4663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MOUGINOT, J., B, S. &amp; E, R. 2017. </a:t>
            </a:r>
            <a:r>
              <a:rPr lang="en" sz="1100" i="1">
                <a:solidFill>
                  <a:schemeClr val="dk1"/>
                </a:solidFill>
              </a:rPr>
              <a:t>MEaSUREs Annual Antarctic Ice Velocity Maps, Version 1 </a:t>
            </a:r>
            <a:r>
              <a:rPr lang="en" sz="1100">
                <a:solidFill>
                  <a:schemeClr val="dk1"/>
                </a:solidFill>
              </a:rPr>
              <a:t>[Online]. NASA National Snow and Ice Data Center Distributed Active Archive Center.  [Accessed 8/5 2025].</a:t>
            </a:r>
            <a:endParaRPr sz="1100">
              <a:solidFill>
                <a:schemeClr val="dk1"/>
              </a:solidFill>
            </a:endParaRPr>
          </a:p>
          <a:p>
            <a:pPr marL="466344" lvl="0" indent="-4663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PAOLO, F., GARDNER, A., GREEN, C. &amp; SCHLEGEL, N. 2024. MEaSUREs ITS_LIVE Antarctic Quarterly 1920 m Ice Shelf Height Change and Basal Melt Rates, 1992-2017, Version 1.</a:t>
            </a:r>
            <a:endParaRPr sz="1100">
              <a:solidFill>
                <a:schemeClr val="dk1"/>
              </a:solidFill>
            </a:endParaRPr>
          </a:p>
          <a:p>
            <a:pPr marL="466344" lvl="0" indent="-46634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RICHTER, O., GWYTHER, D. E., GALTON-FENZI, B. K. &amp; NAUGHTEN, K. A. 2022. The whole antarctic ocean model (waom v1. 0): Development and evaluation. </a:t>
            </a:r>
            <a:r>
              <a:rPr lang="en" sz="1100" i="1">
                <a:solidFill>
                  <a:schemeClr val="dk1"/>
                </a:solidFill>
              </a:rPr>
              <a:t>Geoscientific Model Development,</a:t>
            </a:r>
            <a:r>
              <a:rPr lang="en" sz="1100">
                <a:solidFill>
                  <a:schemeClr val="dk1"/>
                </a:solidFill>
              </a:rPr>
              <a:t> 15</a:t>
            </a:r>
            <a:r>
              <a:rPr lang="en" sz="1100" b="1">
                <a:solidFill>
                  <a:schemeClr val="dk1"/>
                </a:solidFill>
              </a:rPr>
              <a:t>,</a:t>
            </a:r>
            <a:r>
              <a:rPr lang="en" sz="1100">
                <a:solidFill>
                  <a:schemeClr val="dk1"/>
                </a:solidFill>
              </a:rPr>
              <a:t> 617-647.</a:t>
            </a:r>
            <a:endParaRPr sz="1600" b="1">
              <a:solidFill>
                <a:schemeClr val="dk2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2"/>
          <p:cNvSpPr txBox="1">
            <a:spLocks noGrp="1"/>
          </p:cNvSpPr>
          <p:nvPr>
            <p:ph type="ctrTitle"/>
          </p:nvPr>
        </p:nvSpPr>
        <p:spPr>
          <a:xfrm>
            <a:off x="1120500" y="1512000"/>
            <a:ext cx="6858000" cy="18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lang="en"/>
              <a:t>Thank you, any questions?</a:t>
            </a:r>
            <a:endParaRPr/>
          </a:p>
        </p:txBody>
      </p:sp>
      <p:sp>
        <p:nvSpPr>
          <p:cNvPr id="378" name="Google Shape;378;p52"/>
          <p:cNvSpPr txBox="1">
            <a:spLocks noGrp="1"/>
          </p:cNvSpPr>
          <p:nvPr>
            <p:ph type="sldNum" idx="12"/>
          </p:nvPr>
        </p:nvSpPr>
        <p:spPr>
          <a:xfrm>
            <a:off x="8599500" y="4793141"/>
            <a:ext cx="2700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ctr" anchorCtr="0">
            <a:noAutofit/>
          </a:bodyPr>
          <a:lstStyle/>
          <a:p>
            <a:pPr marL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79" name="Google Shape;379;p52"/>
          <p:cNvSpPr txBox="1">
            <a:spLocks noGrp="1"/>
          </p:cNvSpPr>
          <p:nvPr>
            <p:ph type="body" idx="1"/>
          </p:nvPr>
        </p:nvSpPr>
        <p:spPr>
          <a:xfrm>
            <a:off x="3752975" y="4662900"/>
            <a:ext cx="4802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000" tIns="27000" rIns="27000" bIns="270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" sz="1000" u="sng">
                <a:hlinkClick r:id="rId3"/>
              </a:rPr>
              <a:t>arcsaef.com</a:t>
            </a:r>
            <a:r>
              <a:rPr lang="en" sz="1000"/>
              <a:t> jshu0010@student.monash.edu  </a:t>
            </a:r>
            <a:r>
              <a:rPr lang="en" sz="1000">
                <a:uFill>
                  <a:noFill/>
                </a:uFill>
                <a:hlinkClick r:id="rId4"/>
              </a:rPr>
              <a:t>Felicity.McCormack@monash.edu</a:t>
            </a:r>
            <a:r>
              <a:rPr lang="en" sz="1000"/>
              <a:t>  </a:t>
            </a:r>
            <a:endParaRPr sz="1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</a:pPr>
            <a:r>
              <a:rPr lang="en" sz="1000"/>
              <a:t>SAEF, Monash University, Melbourne Victoria Australia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SAEF">
      <a:dk1>
        <a:srgbClr val="000000"/>
      </a:dk1>
      <a:lt1>
        <a:srgbClr val="FFFFFF"/>
      </a:lt1>
      <a:dk2>
        <a:srgbClr val="F0ECE3"/>
      </a:dk2>
      <a:lt2>
        <a:srgbClr val="F8F6F1"/>
      </a:lt2>
      <a:accent1>
        <a:srgbClr val="0F36C5"/>
      </a:accent1>
      <a:accent2>
        <a:srgbClr val="422119"/>
      </a:accent2>
      <a:accent3>
        <a:srgbClr val="F45620"/>
      </a:accent3>
      <a:accent4>
        <a:srgbClr val="FFE400"/>
      </a:accent4>
      <a:accent5>
        <a:srgbClr val="C8DF0A"/>
      </a:accent5>
      <a:accent6>
        <a:srgbClr val="96CCD8"/>
      </a:accent6>
      <a:hlink>
        <a:srgbClr val="215E9E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1450</Words>
  <Application>Microsoft Office PowerPoint</Application>
  <PresentationFormat>On-screen Show (16:9)</PresentationFormat>
  <Paragraphs>155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Roboto</vt:lpstr>
      <vt:lpstr>Simple Light</vt:lpstr>
      <vt:lpstr>Office Theme</vt:lpstr>
      <vt:lpstr>Melt, Crevassing, and Buttressing: A Framework for Assessing the Cook Ice Shelf’s Vulnerability </vt:lpstr>
      <vt:lpstr>Ice Shelves Critical for Ice Sheet Stability</vt:lpstr>
      <vt:lpstr>Research Aims</vt:lpstr>
      <vt:lpstr>Methods</vt:lpstr>
      <vt:lpstr>Key Result 1: mCDW is the Dominant Mode of Melt</vt:lpstr>
      <vt:lpstr>Key Result 2: Extensive Crevasses, but No Evidence of Impact on Calving</vt:lpstr>
      <vt:lpstr>Key Result 3: No Significant Change in Buttressing</vt:lpstr>
      <vt:lpstr>Overall Findings</vt:lpstr>
      <vt:lpstr>Decision-making Framework for ApRES Deployment</vt:lpstr>
      <vt:lpstr>Decision-making Framework for ApRES Deployment</vt:lpstr>
      <vt:lpstr>Conclusion and Implications</vt:lpstr>
      <vt:lpstr>Acknowledgements and References</vt:lpstr>
      <vt:lpstr>Thank you, 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Jeremy Shum</cp:lastModifiedBy>
  <cp:revision>1</cp:revision>
  <dcterms:modified xsi:type="dcterms:W3CDTF">2025-10-06T02:09:17Z</dcterms:modified>
</cp:coreProperties>
</file>